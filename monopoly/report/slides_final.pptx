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5" r:id="rId8"/>
    <p:sldId id="268" r:id="rId9"/>
    <p:sldId id="269" r:id="rId10"/>
    <p:sldId id="270" r:id="rId11"/>
    <p:sldId id="263" r:id="rId12"/>
    <p:sldId id="264" r:id="rId13"/>
    <p:sldId id="266" r:id="rId14"/>
    <p:sldId id="267" r:id="rId1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45" d="100"/>
          <a:sy n="145" d="100"/>
        </p:scale>
        <p:origin x="1195" y="25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39" y="609436"/>
            <a:ext cx="3020720" cy="477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7337"/>
            <a:ext cx="49917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7098" y="1371536"/>
            <a:ext cx="4745990" cy="991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Selim-Emir-Can/CS348K-proj/tree/maste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372539" y="609436"/>
            <a:ext cx="3020720" cy="496930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b="0" spc="-25" dirty="0">
                <a:latin typeface="Tahoma"/>
                <a:cs typeface="Tahoma"/>
              </a:rPr>
              <a:t>Beta-Testing</a:t>
            </a:r>
            <a:r>
              <a:rPr b="0" spc="-20" dirty="0">
                <a:latin typeface="Tahoma"/>
                <a:cs typeface="Tahoma"/>
              </a:rPr>
              <a:t> </a:t>
            </a:r>
            <a:r>
              <a:rPr lang="en-US" b="0" spc="-20" dirty="0">
                <a:latin typeface="Tahoma"/>
                <a:cs typeface="Tahoma"/>
              </a:rPr>
              <a:t>W</a:t>
            </a:r>
            <a:r>
              <a:rPr b="0" dirty="0">
                <a:latin typeface="Tahoma"/>
                <a:cs typeface="Tahoma"/>
              </a:rPr>
              <a:t>ithout</a:t>
            </a:r>
            <a:r>
              <a:rPr b="0" spc="-20" dirty="0">
                <a:latin typeface="Tahoma"/>
                <a:cs typeface="Tahoma"/>
              </a:rPr>
              <a:t> </a:t>
            </a:r>
            <a:r>
              <a:rPr b="0" spc="-25" dirty="0">
                <a:latin typeface="Tahoma"/>
                <a:cs typeface="Tahoma"/>
              </a:rPr>
              <a:t>Beta-</a:t>
            </a:r>
            <a:r>
              <a:rPr b="0" spc="-10" dirty="0">
                <a:latin typeface="Tahoma"/>
                <a:cs typeface="Tahoma"/>
              </a:rPr>
              <a:t>Testers</a:t>
            </a:r>
            <a:br>
              <a:rPr lang="en-US" b="0" spc="-10" dirty="0">
                <a:latin typeface="Tahoma"/>
                <a:cs typeface="Tahoma"/>
              </a:rPr>
            </a:br>
            <a:r>
              <a:rPr lang="en-US" b="0" spc="-10" dirty="0">
                <a:latin typeface="Tahoma"/>
                <a:cs typeface="Tahoma"/>
              </a:rPr>
              <a:t>For Monopoly</a:t>
            </a:r>
            <a:endParaRPr b="0" spc="-1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53106" y="1363819"/>
            <a:ext cx="8540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Selim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Emir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Can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700" dirty="0">
                <a:latin typeface="Tahoma"/>
                <a:cs typeface="Tahoma"/>
              </a:rPr>
              <a:t>Stanford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CS348K</a:t>
            </a:r>
            <a:endParaRPr sz="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000" spc="-20" dirty="0">
                <a:latin typeface="Tahoma"/>
                <a:cs typeface="Tahoma"/>
              </a:rPr>
              <a:t>June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2026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139" y="2591061"/>
            <a:ext cx="29737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70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github.com/Selim-</a:t>
            </a:r>
            <a:r>
              <a:rPr sz="900" spc="80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Emir-</a:t>
            </a:r>
            <a:r>
              <a:rPr sz="900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Can/CS348K-</a:t>
            </a:r>
            <a:r>
              <a:rPr sz="900" spc="65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proj/tree/master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824" y="655883"/>
            <a:ext cx="2788920" cy="14100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795" indent="-125095">
              <a:lnSpc>
                <a:spcPts val="1200"/>
              </a:lnSpc>
              <a:spcBef>
                <a:spcPts val="95"/>
              </a:spcBef>
              <a:buFont typeface="Arial"/>
              <a:buChar char="•"/>
              <a:tabLst>
                <a:tab pos="137795" algn="l"/>
              </a:tabLst>
            </a:pPr>
            <a:r>
              <a:rPr sz="1000" dirty="0">
                <a:latin typeface="Tahoma"/>
                <a:cs typeface="Tahoma"/>
              </a:rPr>
              <a:t>Beta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testing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resource-</a:t>
            </a:r>
            <a:r>
              <a:rPr sz="1000" spc="-40" dirty="0">
                <a:latin typeface="Tahoma"/>
                <a:cs typeface="Tahoma"/>
              </a:rPr>
              <a:t>intensive;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balance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game</a:t>
            </a:r>
            <a:endParaRPr sz="1000" dirty="0">
              <a:latin typeface="Tahoma"/>
              <a:cs typeface="Tahoma"/>
            </a:endParaRPr>
          </a:p>
          <a:p>
            <a:pPr marL="139065" marR="411480">
              <a:lnSpc>
                <a:spcPts val="1200"/>
              </a:lnSpc>
              <a:spcBef>
                <a:spcPts val="40"/>
              </a:spcBef>
            </a:pP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many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diverse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human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lang="en-US" sz="1000" spc="-35" dirty="0">
                <a:latin typeface="Tahoma"/>
                <a:cs typeface="Tahoma"/>
              </a:rPr>
              <a:t>users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over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many </a:t>
            </a:r>
            <a:r>
              <a:rPr sz="1000" spc="-10" dirty="0">
                <a:latin typeface="Tahoma"/>
                <a:cs typeface="Tahoma"/>
              </a:rPr>
              <a:t>sessions.</a:t>
            </a:r>
            <a:endParaRPr sz="1000" dirty="0">
              <a:latin typeface="Tahoma"/>
              <a:cs typeface="Tahoma"/>
            </a:endParaRPr>
          </a:p>
          <a:p>
            <a:pPr marL="137160" marR="497205" indent="-125095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139065" algn="l"/>
              </a:tabLst>
            </a:pPr>
            <a:r>
              <a:rPr lang="en-US" sz="1000" spc="-20" dirty="0">
                <a:latin typeface="Tahoma"/>
                <a:cs typeface="Tahoma"/>
              </a:rPr>
              <a:t>Combinatorial</a:t>
            </a:r>
            <a:r>
              <a:rPr lang="en-US" sz="1000" spc="-10" dirty="0">
                <a:latin typeface="Tahoma"/>
                <a:cs typeface="Tahoma"/>
              </a:rPr>
              <a:t> </a:t>
            </a:r>
            <a:r>
              <a:rPr lang="en-US" sz="1000" spc="-40" dirty="0">
                <a:latin typeface="Tahoma"/>
                <a:cs typeface="Tahoma"/>
              </a:rPr>
              <a:t>d</a:t>
            </a:r>
            <a:r>
              <a:rPr sz="1000" spc="-40" dirty="0">
                <a:latin typeface="Tahoma"/>
                <a:cs typeface="Tahoma"/>
              </a:rPr>
              <a:t>esign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spaces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human 	</a:t>
            </a:r>
            <a:r>
              <a:rPr sz="1000" spc="-30" dirty="0">
                <a:latin typeface="Tahoma"/>
                <a:cs typeface="Tahoma"/>
              </a:rPr>
              <a:t>playtesting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alone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cannot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cover.</a:t>
            </a:r>
            <a:endParaRPr sz="1000" dirty="0">
              <a:latin typeface="Tahoma"/>
              <a:cs typeface="Tahoma"/>
            </a:endParaRPr>
          </a:p>
          <a:p>
            <a:pPr marL="137160" marR="99695" indent="-12509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39065" algn="l"/>
              </a:tabLst>
            </a:pPr>
            <a:r>
              <a:rPr sz="1000" dirty="0">
                <a:latin typeface="Tahoma"/>
                <a:cs typeface="Tahoma"/>
              </a:rPr>
              <a:t>We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need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automated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way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test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each 	</a:t>
            </a:r>
            <a:r>
              <a:rPr sz="1000" spc="-30" dirty="0">
                <a:latin typeface="Tahoma"/>
                <a:cs typeface="Tahoma"/>
              </a:rPr>
              <a:t>candidate </a:t>
            </a:r>
            <a:r>
              <a:rPr sz="1000" spc="-40" dirty="0">
                <a:latin typeface="Tahoma"/>
                <a:cs typeface="Tahoma"/>
              </a:rPr>
              <a:t>design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against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diverse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population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of 	</a:t>
            </a:r>
            <a:r>
              <a:rPr sz="1000" spc="-30" dirty="0">
                <a:latin typeface="Tahoma"/>
                <a:cs typeface="Tahoma"/>
              </a:rPr>
              <a:t>simulated</a:t>
            </a:r>
            <a:r>
              <a:rPr sz="1000" spc="-10" dirty="0">
                <a:latin typeface="Tahoma"/>
                <a:cs typeface="Tahoma"/>
              </a:rPr>
              <a:t> players.</a:t>
            </a:r>
            <a:endParaRPr lang="en-US" sz="1000" spc="-1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687" y="687194"/>
            <a:ext cx="1962284" cy="20972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56646" y="2805616"/>
            <a:ext cx="67119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ahoma"/>
                <a:cs typeface="Tahoma"/>
              </a:rPr>
              <a:t>Monopoly:</a:t>
            </a:r>
            <a:r>
              <a:rPr sz="500" spc="8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our</a:t>
            </a:r>
            <a:r>
              <a:rPr sz="500" spc="25" dirty="0">
                <a:latin typeface="Tahoma"/>
                <a:cs typeface="Tahoma"/>
              </a:rPr>
              <a:t> </a:t>
            </a:r>
            <a:r>
              <a:rPr sz="500" spc="-10" dirty="0">
                <a:latin typeface="Tahoma"/>
                <a:cs typeface="Tahoma"/>
              </a:rPr>
              <a:t>testbed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49917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75" dirty="0"/>
              <a:t> </a:t>
            </a:r>
            <a:r>
              <a:rPr dirty="0"/>
              <a:t>strategy</a:t>
            </a:r>
            <a:r>
              <a:rPr spc="75" dirty="0"/>
              <a:t> </a:t>
            </a:r>
            <a:r>
              <a:rPr dirty="0"/>
              <a:t>pool:</a:t>
            </a:r>
            <a:r>
              <a:rPr spc="225" dirty="0"/>
              <a:t> </a:t>
            </a:r>
            <a:r>
              <a:rPr dirty="0"/>
              <a:t>10</a:t>
            </a:r>
            <a:r>
              <a:rPr spc="75" dirty="0"/>
              <a:t> </a:t>
            </a:r>
            <a:r>
              <a:rPr dirty="0"/>
              <a:t>named</a:t>
            </a:r>
            <a:r>
              <a:rPr spc="80" dirty="0"/>
              <a:t> </a:t>
            </a:r>
            <a:r>
              <a:rPr spc="-35" dirty="0"/>
              <a:t>archetype</a:t>
            </a:r>
            <a:r>
              <a:rPr lang="en-US" spc="-35" dirty="0"/>
              <a:t>s</a:t>
            </a:r>
            <a:endParaRPr spc="-1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8232" y="848194"/>
          <a:ext cx="3930014" cy="1245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4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82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Strategy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7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floor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Trades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Build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Buys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Ignores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 groups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30">
                <a:tc>
                  <a:txBody>
                    <a:bodyPr/>
                    <a:lstStyle/>
                    <a:p>
                      <a:pPr marL="75565">
                        <a:lnSpc>
                          <a:spcPts val="819"/>
                        </a:lnSpc>
                        <a:spcBef>
                          <a:spcPts val="17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AggressiveBuilder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9"/>
                        </a:lnSpc>
                        <a:spcBef>
                          <a:spcPts val="170"/>
                        </a:spcBef>
                      </a:pPr>
                      <a:r>
                        <a:rPr sz="700" spc="-50" dirty="0">
                          <a:latin typeface="Tahoma"/>
                          <a:cs typeface="Tahoma"/>
                        </a:rPr>
                        <a:t>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9"/>
                        </a:lnSpc>
                        <a:spcBef>
                          <a:spcPts val="170"/>
                        </a:spcBef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no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9"/>
                        </a:lnSpc>
                        <a:spcBef>
                          <a:spcPts val="170"/>
                        </a:spcBef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max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9"/>
                        </a:lnSpc>
                        <a:spcBef>
                          <a:spcPts val="17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RR+Util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19"/>
                        </a:lnSpc>
                        <a:spcBef>
                          <a:spcPts val="170"/>
                        </a:spcBef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none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CashHoarder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1000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no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slow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RR+Util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none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Trader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300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yes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max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RR+Util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none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RailroadKing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100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no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max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RR</a:t>
                      </a:r>
                      <a:r>
                        <a:rPr sz="700" spc="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only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695"/>
                        </a:lnSpc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all</a:t>
                      </a:r>
                      <a:r>
                        <a:rPr sz="700" spc="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colour</a:t>
                      </a:r>
                      <a:r>
                        <a:rPr sz="700" spc="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groups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LowCostOnly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200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yes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max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RR+Util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7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priciest</a:t>
                      </a:r>
                      <a:r>
                        <a:rPr sz="7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(Or/Rd/Yl/Gn/In)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HighCostOnly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400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yes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max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RR</a:t>
                      </a:r>
                      <a:r>
                        <a:rPr sz="700" spc="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only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7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dirty="0">
                          <a:latin typeface="Tahoma"/>
                          <a:cs typeface="Tahoma"/>
                        </a:rPr>
                        <a:t>cheapest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(Br/Lb/Pk)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Balanced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300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yes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max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RR+Util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none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Passive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500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no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slow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none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none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Bully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50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yes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max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RR+Util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9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none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 marL="75565">
                        <a:lnSpc>
                          <a:spcPts val="715"/>
                        </a:lnSpc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RiskAverse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800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5"/>
                        </a:lnSpc>
                      </a:pPr>
                      <a:r>
                        <a:rPr sz="700" spc="-25" dirty="0">
                          <a:latin typeface="Tahoma"/>
                          <a:cs typeface="Tahoma"/>
                        </a:rPr>
                        <a:t>no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5"/>
                        </a:lnSpc>
                      </a:pPr>
                      <a:r>
                        <a:rPr sz="700" spc="-20" dirty="0">
                          <a:latin typeface="Tahoma"/>
                          <a:cs typeface="Tahoma"/>
                        </a:rPr>
                        <a:t>slow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5"/>
                        </a:lnSpc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RR</a:t>
                      </a:r>
                      <a:r>
                        <a:rPr sz="700" spc="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20" dirty="0">
                          <a:latin typeface="Tahoma"/>
                          <a:cs typeface="Tahoma"/>
                        </a:rPr>
                        <a:t>only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715"/>
                        </a:lnSpc>
                      </a:pPr>
                      <a:r>
                        <a:rPr sz="700" dirty="0">
                          <a:latin typeface="Tahoma"/>
                          <a:cs typeface="Tahoma"/>
                        </a:rPr>
                        <a:t>Green,</a:t>
                      </a:r>
                      <a:r>
                        <a:rPr sz="7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00" spc="-10" dirty="0">
                          <a:latin typeface="Tahoma"/>
                          <a:cs typeface="Tahoma"/>
                        </a:rPr>
                        <a:t>Indigo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8574" y="2176533"/>
            <a:ext cx="4934585" cy="30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4620" indent="-121920">
              <a:lnSpc>
                <a:spcPct val="100000"/>
              </a:lnSpc>
              <a:spcBef>
                <a:spcPts val="95"/>
              </a:spcBef>
              <a:buFont typeface="Lucida Sans Unicode"/>
              <a:buChar char="•"/>
              <a:tabLst>
                <a:tab pos="134620" algn="l"/>
              </a:tabLst>
            </a:pPr>
            <a:r>
              <a:rPr sz="900" dirty="0">
                <a:latin typeface="Tahoma"/>
                <a:cs typeface="Tahoma"/>
              </a:rPr>
              <a:t>“Cash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floor”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cash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kept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un-</a:t>
            </a:r>
            <a:r>
              <a:rPr sz="900" spc="-20" dirty="0">
                <a:latin typeface="Tahoma"/>
                <a:cs typeface="Tahoma"/>
              </a:rPr>
              <a:t>spent;</a:t>
            </a:r>
            <a:r>
              <a:rPr sz="900" spc="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“Build”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max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houses/turn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vs.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one/turn;</a:t>
            </a:r>
            <a:r>
              <a:rPr sz="900" spc="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“Buys”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railroads</a:t>
            </a:r>
            <a:endParaRPr sz="900">
              <a:latin typeface="Tahoma"/>
              <a:cs typeface="Tahoma"/>
            </a:endParaRPr>
          </a:p>
          <a:p>
            <a:pPr marL="133985">
              <a:lnSpc>
                <a:spcPct val="100000"/>
              </a:lnSpc>
              <a:spcBef>
                <a:spcPts val="15"/>
              </a:spcBef>
            </a:pPr>
            <a:r>
              <a:rPr sz="900" spc="105" dirty="0">
                <a:latin typeface="Tahoma"/>
                <a:cs typeface="Tahoma"/>
              </a:rPr>
              <a:t>/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utilities.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40" dirty="0"/>
              <a:t> </a:t>
            </a:r>
            <a:r>
              <a:rPr spc="-10" dirty="0"/>
              <a:t>objective:</a:t>
            </a:r>
            <a:r>
              <a:rPr spc="180" dirty="0"/>
              <a:t> </a:t>
            </a:r>
            <a:r>
              <a:rPr dirty="0"/>
              <a:t>one</a:t>
            </a:r>
            <a:r>
              <a:rPr spc="40" dirty="0"/>
              <a:t> </a:t>
            </a:r>
            <a:r>
              <a:rPr spc="-20" dirty="0"/>
              <a:t>composite,</a:t>
            </a:r>
            <a:r>
              <a:rPr spc="40" dirty="0"/>
              <a:t> </a:t>
            </a:r>
            <a:r>
              <a:rPr dirty="0"/>
              <a:t>five</a:t>
            </a:r>
            <a:r>
              <a:rPr spc="45" dirty="0"/>
              <a:t> </a:t>
            </a:r>
            <a:r>
              <a:rPr spc="-45" dirty="0"/>
              <a:t>design</a:t>
            </a:r>
            <a:r>
              <a:rPr spc="40" dirty="0"/>
              <a:t> </a:t>
            </a:r>
            <a:r>
              <a:rPr spc="-10" dirty="0"/>
              <a:t>qualities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8490" y="917259"/>
            <a:ext cx="793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F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4192" y="893965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896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06447" y="929909"/>
            <a:ext cx="2470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-30" baseline="7936" dirty="0">
                <a:latin typeface="Arial"/>
                <a:cs typeface="Arial"/>
              </a:rPr>
              <a:t>F</a:t>
            </a:r>
            <a:r>
              <a:rPr sz="500" spc="-20" dirty="0">
                <a:latin typeface="Tahoma"/>
                <a:cs typeface="Tahoma"/>
              </a:rPr>
              <a:t>max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780" y="860315"/>
            <a:ext cx="1546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60500" algn="l"/>
              </a:tabLst>
            </a:pPr>
            <a:r>
              <a:rPr sz="1000" spc="-25" dirty="0">
                <a:latin typeface="Tahoma"/>
                <a:cs typeface="Tahoma"/>
              </a:rPr>
              <a:t>score(</a:t>
            </a:r>
            <a:r>
              <a:rPr sz="1000" i="1" spc="-25" dirty="0">
                <a:latin typeface="Calibri"/>
                <a:cs typeface="Calibri"/>
              </a:rPr>
              <a:t>θ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00" spc="20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04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40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31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15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w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-50" dirty="0"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8097" y="917259"/>
            <a:ext cx="1892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ahoma"/>
                <a:cs typeface="Tahoma"/>
              </a:rPr>
              <a:t>max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0990" y="860315"/>
            <a:ext cx="273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+</a:t>
            </a:r>
            <a:r>
              <a:rPr sz="1000" spc="220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w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42538" y="861618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8084" y="0"/>
                </a:lnTo>
              </a:path>
            </a:pathLst>
          </a:custGeom>
          <a:ln w="4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12490" y="967917"/>
            <a:ext cx="328295" cy="0"/>
          </a:xfrm>
          <a:custGeom>
            <a:avLst/>
            <a:gdLst/>
            <a:ahLst/>
            <a:cxnLst/>
            <a:rect l="l" t="t" r="r" b="b"/>
            <a:pathLst>
              <a:path w="328295">
                <a:moveTo>
                  <a:pt x="0" y="0"/>
                </a:moveTo>
                <a:lnTo>
                  <a:pt x="32823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63710" y="917259"/>
            <a:ext cx="4057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52095" algn="l"/>
              </a:tabLst>
            </a:pPr>
            <a:r>
              <a:rPr sz="700" i="1" spc="-50" dirty="0">
                <a:latin typeface="Arial"/>
                <a:cs typeface="Arial"/>
              </a:rPr>
              <a:t>R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1050" i="1" spc="-37" baseline="-15873" dirty="0">
                <a:latin typeface="Arial"/>
                <a:cs typeface="Arial"/>
              </a:rPr>
              <a:t>R</a:t>
            </a:r>
            <a:r>
              <a:rPr sz="500" spc="-25" dirty="0">
                <a:latin typeface="Lucida Sans Unicode"/>
                <a:cs typeface="Lucida Sans Unicode"/>
              </a:rPr>
              <a:t>∗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4390" y="798962"/>
            <a:ext cx="731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50" dirty="0">
                <a:latin typeface="Cambria"/>
                <a:cs typeface="Cambria"/>
              </a:rPr>
              <a:t>|</a:t>
            </a:r>
            <a:r>
              <a:rPr sz="700" i="1" spc="50" dirty="0">
                <a:latin typeface="Arial"/>
                <a:cs typeface="Arial"/>
              </a:rPr>
              <a:t>R</a:t>
            </a:r>
            <a:r>
              <a:rPr sz="700" spc="50" dirty="0">
                <a:latin typeface="Cambria"/>
                <a:cs typeface="Cambria"/>
              </a:rPr>
              <a:t>−</a:t>
            </a:r>
            <a:r>
              <a:rPr sz="700" i="1" spc="50" dirty="0">
                <a:latin typeface="Arial"/>
                <a:cs typeface="Arial"/>
              </a:rPr>
              <a:t>R</a:t>
            </a:r>
            <a:r>
              <a:rPr sz="750" spc="75" baseline="33333" dirty="0">
                <a:latin typeface="Lucida Sans Unicode"/>
                <a:cs typeface="Lucida Sans Unicode"/>
              </a:rPr>
              <a:t>∗</a:t>
            </a:r>
            <a:r>
              <a:rPr sz="700" spc="50" dirty="0">
                <a:latin typeface="Cambria"/>
                <a:cs typeface="Cambria"/>
              </a:rPr>
              <a:t>|</a:t>
            </a:r>
            <a:r>
              <a:rPr sz="700" spc="484" dirty="0">
                <a:latin typeface="Cambria"/>
                <a:cs typeface="Cambria"/>
              </a:rPr>
              <a:t> </a:t>
            </a:r>
            <a:r>
              <a:rPr sz="1500" baseline="-27777" dirty="0">
                <a:latin typeface="Tahoma"/>
                <a:cs typeface="Tahoma"/>
              </a:rPr>
              <a:t>+</a:t>
            </a:r>
            <a:r>
              <a:rPr sz="1500" spc="315" baseline="-27777" dirty="0">
                <a:latin typeface="Tahoma"/>
                <a:cs typeface="Tahoma"/>
              </a:rPr>
              <a:t> </a:t>
            </a:r>
            <a:r>
              <a:rPr sz="1500" i="1" spc="-75" baseline="-27777" dirty="0">
                <a:latin typeface="Arial"/>
                <a:cs typeface="Arial"/>
              </a:rPr>
              <a:t>w</a:t>
            </a:r>
            <a:endParaRPr sz="1500" baseline="-2777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54602" y="917259"/>
            <a:ext cx="933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D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69220" y="893965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0" y="0"/>
                </a:moveTo>
                <a:lnTo>
                  <a:pt x="10093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56520" y="860315"/>
            <a:ext cx="438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D</a:t>
            </a:r>
            <a:r>
              <a:rPr sz="1000" i="1" spc="30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200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w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30229" y="861618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034" y="0"/>
                </a:lnTo>
              </a:path>
            </a:pathLst>
          </a:custGeom>
          <a:ln w="4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362081" y="836919"/>
            <a:ext cx="4203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Cambria"/>
                <a:cs typeface="Cambria"/>
              </a:rPr>
              <a:t>|</a:t>
            </a: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-60" dirty="0">
                <a:latin typeface="Arial"/>
                <a:cs typeface="Arial"/>
              </a:rPr>
              <a:t> </a:t>
            </a:r>
            <a:r>
              <a:rPr sz="700" spc="150" dirty="0">
                <a:latin typeface="Cambria"/>
                <a:cs typeface="Cambria"/>
              </a:rPr>
              <a:t>−</a:t>
            </a:r>
            <a:r>
              <a:rPr sz="700" i="1" spc="150" dirty="0">
                <a:latin typeface="Arial"/>
                <a:cs typeface="Arial"/>
              </a:rPr>
              <a:t>T</a:t>
            </a:r>
            <a:r>
              <a:rPr sz="700" i="1" spc="-55" dirty="0">
                <a:latin typeface="Arial"/>
                <a:cs typeface="Arial"/>
              </a:rPr>
              <a:t> </a:t>
            </a:r>
            <a:r>
              <a:rPr sz="750" spc="-37" baseline="33333" dirty="0">
                <a:latin typeface="Lucida Sans Unicode"/>
                <a:cs typeface="Lucida Sans Unicode"/>
              </a:rPr>
              <a:t>∗</a:t>
            </a:r>
            <a:r>
              <a:rPr sz="700" spc="-25" dirty="0">
                <a:latin typeface="Cambria"/>
                <a:cs typeface="Cambria"/>
              </a:rPr>
              <a:t>|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00181" y="967917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43451" y="917259"/>
            <a:ext cx="4254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4160" algn="l"/>
              </a:tabLst>
            </a:pPr>
            <a:r>
              <a:rPr sz="700" i="1" spc="2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1050" i="1" spc="112" baseline="-15873" dirty="0">
                <a:latin typeface="Arial"/>
                <a:cs typeface="Arial"/>
              </a:rPr>
              <a:t>T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500" spc="-50" dirty="0">
                <a:latin typeface="Lucida Sans Unicode"/>
                <a:cs typeface="Lucida Sans Unicode"/>
              </a:rPr>
              <a:t>∗</a:t>
            </a:r>
            <a:endParaRPr sz="500">
              <a:latin typeface="Lucida Sans Unicode"/>
              <a:cs typeface="Lucida Sans Unicode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45198" y="1371536"/>
          <a:ext cx="4670424" cy="991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spc="-20" dirty="0">
                          <a:latin typeface="Tahoma"/>
                          <a:cs typeface="Tahoma"/>
                        </a:rPr>
                        <a:t>Term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Measures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spc="-20" dirty="0">
                          <a:latin typeface="Tahoma"/>
                          <a:cs typeface="Tahoma"/>
                        </a:rPr>
                        <a:t>Goal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35"/>
                        </a:lnSpc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900" i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mean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fairness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350" i="1" baseline="6172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600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600" spc="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52" baseline="6172" dirty="0">
                          <a:latin typeface="Tahoma"/>
                          <a:cs typeface="Tahoma"/>
                        </a:rPr>
                        <a:t>worst-</a:t>
                      </a:r>
                      <a:r>
                        <a:rPr sz="1350" baseline="6172" dirty="0">
                          <a:latin typeface="Tahoma"/>
                          <a:cs typeface="Tahoma"/>
                        </a:rPr>
                        <a:t>pair</a:t>
                      </a:r>
                      <a:r>
                        <a:rPr sz="1350" spc="-15" baseline="6172" dirty="0">
                          <a:latin typeface="Tahoma"/>
                          <a:cs typeface="Tahoma"/>
                        </a:rPr>
                        <a:t> fairness</a:t>
                      </a:r>
                      <a:endParaRPr sz="1350" baseline="6172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935"/>
                        </a:lnSpc>
                      </a:pPr>
                      <a:r>
                        <a:rPr sz="900" spc="-30" dirty="0">
                          <a:latin typeface="Tahoma"/>
                          <a:cs typeface="Tahoma"/>
                        </a:rPr>
                        <a:t>win-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rate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spread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between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players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(avg.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over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matchups)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Tahoma"/>
                          <a:cs typeface="Tahoma"/>
                        </a:rPr>
                        <a:t>the</a:t>
                      </a:r>
                      <a:r>
                        <a:rPr sz="9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worst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matchup’s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spread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(robustness)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35"/>
                        </a:lnSpc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minimise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minimise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35"/>
                        </a:lnSpc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length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935"/>
                        </a:lnSpc>
                      </a:pPr>
                      <a:r>
                        <a:rPr sz="900" spc="-20" dirty="0">
                          <a:latin typeface="Tahoma"/>
                          <a:cs typeface="Tahoma"/>
                        </a:rPr>
                        <a:t>mean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rounds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game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35"/>
                        </a:lnSpc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target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60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35"/>
                        </a:lnSpc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900" i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draw</a:t>
                      </a:r>
                      <a:r>
                        <a:rPr sz="9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rate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935"/>
                        </a:lnSpc>
                      </a:pPr>
                      <a:r>
                        <a:rPr sz="900" dirty="0">
                          <a:latin typeface="Tahoma"/>
                          <a:cs typeface="Tahoma"/>
                        </a:rPr>
                        <a:t>fraction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0" dirty="0">
                          <a:latin typeface="Tahoma"/>
                          <a:cs typeface="Tahoma"/>
                        </a:rPr>
                        <a:t>games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with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winner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35"/>
                        </a:lnSpc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minimise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35"/>
                        </a:lnSpc>
                      </a:pPr>
                      <a:r>
                        <a:rPr sz="900" i="1" spc="7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i="1" spc="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Tahoma"/>
                          <a:cs typeface="Tahoma"/>
                        </a:rPr>
                        <a:t>transfer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35"/>
                        </a:lnSpc>
                      </a:pPr>
                      <a:r>
                        <a:rPr sz="900" spc="-20" dirty="0">
                          <a:latin typeface="Tahoma"/>
                          <a:cs typeface="Tahoma"/>
                        </a:rPr>
                        <a:t>inter-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player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money</a:t>
                      </a:r>
                      <a:r>
                        <a:rPr sz="9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moved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9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player-</a:t>
                      </a:r>
                      <a:r>
                        <a:rPr sz="900" spc="-20" dirty="0">
                          <a:latin typeface="Tahoma"/>
                          <a:cs typeface="Tahoma"/>
                        </a:rPr>
                        <a:t>turn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35"/>
                        </a:lnSpc>
                      </a:pPr>
                      <a:r>
                        <a:rPr sz="900" spc="-10" dirty="0">
                          <a:latin typeface="Tahoma"/>
                          <a:cs typeface="Tahoma"/>
                        </a:rPr>
                        <a:t>target</a:t>
                      </a:r>
                      <a:r>
                        <a:rPr sz="9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5" dirty="0">
                          <a:latin typeface="Tahoma"/>
                          <a:cs typeface="Tahoma"/>
                        </a:rPr>
                        <a:t>50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621118" y="1624901"/>
            <a:ext cx="82550" cy="0"/>
          </a:xfrm>
          <a:custGeom>
            <a:avLst/>
            <a:gdLst/>
            <a:ahLst/>
            <a:cxnLst/>
            <a:rect l="l" t="t" r="r" b="b"/>
            <a:pathLst>
              <a:path w="82550">
                <a:moveTo>
                  <a:pt x="0" y="0"/>
                </a:moveTo>
                <a:lnTo>
                  <a:pt x="82219" y="0"/>
                </a:lnTo>
              </a:path>
            </a:pathLst>
          </a:custGeom>
          <a:ln w="4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1118" y="1908949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178" y="0"/>
                </a:lnTo>
              </a:path>
            </a:pathLst>
          </a:custGeom>
          <a:ln w="4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1118" y="2053831"/>
            <a:ext cx="93345" cy="0"/>
          </a:xfrm>
          <a:custGeom>
            <a:avLst/>
            <a:gdLst/>
            <a:ahLst/>
            <a:cxnLst/>
            <a:rect l="l" t="t" r="r" b="b"/>
            <a:pathLst>
              <a:path w="93345">
                <a:moveTo>
                  <a:pt x="0" y="0"/>
                </a:moveTo>
                <a:lnTo>
                  <a:pt x="93129" y="0"/>
                </a:lnTo>
              </a:path>
            </a:pathLst>
          </a:custGeom>
          <a:ln w="4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1118" y="2198700"/>
            <a:ext cx="95250" cy="0"/>
          </a:xfrm>
          <a:custGeom>
            <a:avLst/>
            <a:gdLst/>
            <a:ahLst/>
            <a:cxnLst/>
            <a:rect l="l" t="t" r="r" b="b"/>
            <a:pathLst>
              <a:path w="95250">
                <a:moveTo>
                  <a:pt x="0" y="0"/>
                </a:moveTo>
                <a:lnTo>
                  <a:pt x="95135" y="0"/>
                </a:lnTo>
              </a:path>
            </a:pathLst>
          </a:custGeom>
          <a:ln w="4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Method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545" y="581338"/>
            <a:ext cx="4472252" cy="21227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2158" y="2858324"/>
            <a:ext cx="4855845" cy="14042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7160" marR="99695" indent="-12509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39065" algn="l"/>
              </a:tabLst>
            </a:pPr>
            <a:r>
              <a:rPr lang="en-US" sz="800" dirty="0">
                <a:latin typeface="Tahoma"/>
                <a:cs typeface="Tahoma"/>
              </a:rPr>
              <a:t>How can I gain confidence that feedback from agents is *somewhat* predictive of real people?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Generated</a:t>
            </a:r>
            <a:r>
              <a:rPr spc="90" dirty="0"/>
              <a:t> </a:t>
            </a:r>
            <a:r>
              <a:rPr spc="-35" dirty="0"/>
              <a:t>boards</a:t>
            </a:r>
            <a:r>
              <a:rPr spc="95" dirty="0"/>
              <a:t> </a:t>
            </a:r>
            <a:r>
              <a:rPr dirty="0"/>
              <a:t>(2p):</a:t>
            </a:r>
            <a:r>
              <a:rPr spc="245" dirty="0"/>
              <a:t> </a:t>
            </a:r>
            <a:r>
              <a:rPr dirty="0"/>
              <a:t>default</a:t>
            </a:r>
            <a:r>
              <a:rPr spc="95" dirty="0"/>
              <a:t> </a:t>
            </a:r>
            <a:r>
              <a:rPr spc="-10" dirty="0"/>
              <a:t>vs.</a:t>
            </a:r>
            <a:r>
              <a:rPr spc="90" dirty="0"/>
              <a:t> </a:t>
            </a:r>
            <a:r>
              <a:rPr dirty="0"/>
              <a:t>GA</a:t>
            </a:r>
            <a:r>
              <a:rPr spc="95" dirty="0"/>
              <a:t> </a:t>
            </a:r>
            <a:r>
              <a:rPr spc="-10" dirty="0"/>
              <a:t>winner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366" y="553745"/>
            <a:ext cx="4083022" cy="20238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574" y="2692585"/>
            <a:ext cx="493458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33985" marR="5080" indent="-121920">
              <a:lnSpc>
                <a:spcPct val="101499"/>
              </a:lnSpc>
              <a:spcBef>
                <a:spcPts val="80"/>
              </a:spcBef>
              <a:buFont typeface="Lucida Sans Unicode"/>
              <a:buChar char="•"/>
              <a:tabLst>
                <a:tab pos="133985" algn="l"/>
              </a:tabLst>
            </a:pPr>
            <a:r>
              <a:rPr sz="900" b="1" spc="-25" dirty="0">
                <a:latin typeface="Arial"/>
                <a:cs typeface="Arial"/>
              </a:rPr>
              <a:t>GA-</a:t>
            </a:r>
            <a:r>
              <a:rPr sz="900" b="1" dirty="0">
                <a:latin typeface="Arial"/>
                <a:cs typeface="Arial"/>
              </a:rPr>
              <a:t>2p</a:t>
            </a:r>
            <a:r>
              <a:rPr sz="900" b="1" spc="25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winner:</a:t>
            </a:r>
            <a:r>
              <a:rPr sz="900" b="1" spc="100" dirty="0">
                <a:latin typeface="Arial"/>
                <a:cs typeface="Arial"/>
              </a:rPr>
              <a:t> </a:t>
            </a:r>
            <a:r>
              <a:rPr sz="900" spc="-40" dirty="0">
                <a:latin typeface="Tahoma"/>
                <a:cs typeface="Tahoma"/>
              </a:rPr>
              <a:t>keeps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12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22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colour-</a:t>
            </a:r>
            <a:r>
              <a:rPr sz="900" spc="-10" dirty="0">
                <a:latin typeface="Tahoma"/>
                <a:cs typeface="Tahoma"/>
              </a:rPr>
              <a:t>group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properties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at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∼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dirty="0">
                <a:latin typeface="Tahoma"/>
                <a:cs typeface="Tahoma"/>
              </a:rPr>
              <a:t>6</a:t>
            </a:r>
            <a:r>
              <a:rPr sz="900" dirty="0">
                <a:latin typeface="Lucida Sans Unicode"/>
                <a:cs typeface="Lucida Sans Unicode"/>
              </a:rPr>
              <a:t>×</a:t>
            </a:r>
            <a:r>
              <a:rPr sz="900" spc="-25" dirty="0">
                <a:latin typeface="Lucida Sans Unicode"/>
                <a:cs typeface="Lucida Sans Unicode"/>
              </a:rPr>
              <a:t> </a:t>
            </a:r>
            <a:r>
              <a:rPr sz="900" spc="-30" dirty="0">
                <a:latin typeface="Tahoma"/>
                <a:cs typeface="Tahoma"/>
              </a:rPr>
              <a:t>base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cost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and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∼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dirty="0">
                <a:latin typeface="Tahoma"/>
                <a:cs typeface="Tahoma"/>
              </a:rPr>
              <a:t>3</a:t>
            </a:r>
            <a:r>
              <a:rPr sz="900" dirty="0">
                <a:latin typeface="Lucida Sans Unicode"/>
                <a:cs typeface="Lucida Sans Unicode"/>
              </a:rPr>
              <a:t>×</a:t>
            </a:r>
            <a:r>
              <a:rPr sz="900" spc="-25" dirty="0">
                <a:latin typeface="Lucida Sans Unicode"/>
                <a:cs typeface="Lucida Sans Unicode"/>
              </a:rPr>
              <a:t> </a:t>
            </a:r>
            <a:r>
              <a:rPr sz="900" spc="-30" dirty="0">
                <a:latin typeface="Tahoma"/>
                <a:cs typeface="Tahoma"/>
              </a:rPr>
              <a:t>base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rent. </a:t>
            </a:r>
            <a:r>
              <a:rPr sz="900" spc="75" dirty="0">
                <a:latin typeface="Tahoma"/>
                <a:cs typeface="Tahoma"/>
              </a:rPr>
              <a:t>A</a:t>
            </a:r>
            <a:r>
              <a:rPr sz="900" spc="-25" dirty="0">
                <a:latin typeface="Tahoma"/>
                <a:cs typeface="Tahoma"/>
              </a:rPr>
              <a:t> shorter,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pricier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lap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fairer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(2p),</a:t>
            </a:r>
            <a:r>
              <a:rPr sz="900" spc="-20" dirty="0">
                <a:latin typeface="Tahoma"/>
                <a:cs typeface="Tahoma"/>
              </a:rPr>
              <a:t> more </a:t>
            </a:r>
            <a:r>
              <a:rPr sz="900" spc="-25" dirty="0">
                <a:latin typeface="Tahoma"/>
                <a:cs typeface="Tahoma"/>
              </a:rPr>
              <a:t>decisive,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and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cashes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out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faster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default.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Does</a:t>
            </a:r>
            <a:r>
              <a:rPr spc="95" dirty="0"/>
              <a:t> </a:t>
            </a:r>
            <a:r>
              <a:rPr dirty="0"/>
              <a:t>it</a:t>
            </a:r>
            <a:r>
              <a:rPr spc="100" dirty="0"/>
              <a:t> </a:t>
            </a:r>
            <a:r>
              <a:rPr dirty="0"/>
              <a:t>hold</a:t>
            </a:r>
            <a:r>
              <a:rPr spc="100" dirty="0"/>
              <a:t> </a:t>
            </a:r>
            <a:r>
              <a:rPr dirty="0"/>
              <a:t>up</a:t>
            </a:r>
            <a:r>
              <a:rPr spc="95" dirty="0"/>
              <a:t> </a:t>
            </a:r>
            <a:r>
              <a:rPr dirty="0"/>
              <a:t>with</a:t>
            </a:r>
            <a:r>
              <a:rPr spc="100" dirty="0"/>
              <a:t> </a:t>
            </a:r>
            <a:r>
              <a:rPr dirty="0"/>
              <a:t>a</a:t>
            </a:r>
            <a:r>
              <a:rPr spc="100" dirty="0"/>
              <a:t> </a:t>
            </a:r>
            <a:r>
              <a:rPr spc="-10" dirty="0"/>
              <a:t>human</a:t>
            </a:r>
            <a:r>
              <a:rPr spc="100" dirty="0"/>
              <a:t> </a:t>
            </a:r>
            <a:r>
              <a:rPr dirty="0"/>
              <a:t>at</a:t>
            </a:r>
            <a:r>
              <a:rPr spc="95" dirty="0"/>
              <a:t> </a:t>
            </a:r>
            <a:r>
              <a:rPr dirty="0"/>
              <a:t>the</a:t>
            </a:r>
            <a:r>
              <a:rPr spc="100" dirty="0"/>
              <a:t> </a:t>
            </a:r>
            <a:r>
              <a:rPr spc="-40" dirty="0"/>
              <a:t>controls?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988" y="459069"/>
            <a:ext cx="3111677" cy="19930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311" y="2525496"/>
            <a:ext cx="4502150" cy="59952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8270" indent="-115570">
              <a:lnSpc>
                <a:spcPts val="955"/>
              </a:lnSpc>
              <a:spcBef>
                <a:spcPts val="155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b="1" spc="-35" dirty="0">
                <a:latin typeface="Arial"/>
                <a:cs typeface="Arial"/>
              </a:rPr>
              <a:t>Takeaway:</a:t>
            </a:r>
            <a:r>
              <a:rPr sz="800" b="1" spc="105" dirty="0">
                <a:latin typeface="Arial"/>
                <a:cs typeface="Arial"/>
              </a:rPr>
              <a:t> </a:t>
            </a:r>
            <a:r>
              <a:rPr lang="en-US" sz="800" spc="-10" dirty="0">
                <a:latin typeface="Tahoma"/>
                <a:cs typeface="Tahoma"/>
              </a:rPr>
              <a:t>Default board is not optimal;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lang="en-US" sz="800" spc="-10" dirty="0">
                <a:latin typeface="Tahoma"/>
                <a:cs typeface="Tahoma"/>
              </a:rPr>
              <a:t>our strategy pool is predictive of human player experiences; </a:t>
            </a:r>
            <a:r>
              <a:rPr lang="en-US" sz="800" dirty="0">
                <a:latin typeface="Tahoma"/>
                <a:cs typeface="Tahoma"/>
              </a:rPr>
              <a:t>all</a:t>
            </a:r>
            <a:r>
              <a:rPr lang="en-US" sz="800" spc="-5" dirty="0">
                <a:latin typeface="Tahoma"/>
                <a:cs typeface="Tahoma"/>
              </a:rPr>
              <a:t> </a:t>
            </a:r>
            <a:r>
              <a:rPr lang="en-US" sz="800" spc="-10" dirty="0">
                <a:latin typeface="Tahoma"/>
                <a:cs typeface="Tahoma"/>
              </a:rPr>
              <a:t>evaluator</a:t>
            </a:r>
            <a:r>
              <a:rPr lang="en-US" sz="800" spc="-5" dirty="0">
                <a:latin typeface="Tahoma"/>
                <a:cs typeface="Tahoma"/>
              </a:rPr>
              <a:t>s </a:t>
            </a:r>
            <a:r>
              <a:rPr lang="en-US" sz="800" spc="-20" dirty="0">
                <a:latin typeface="Tahoma"/>
                <a:cs typeface="Tahoma"/>
              </a:rPr>
              <a:t>agree</a:t>
            </a:r>
            <a:r>
              <a:rPr lang="en-US" sz="800" spc="-10" dirty="0">
                <a:latin typeface="Tahoma"/>
                <a:cs typeface="Tahoma"/>
              </a:rPr>
              <a:t> </a:t>
            </a:r>
            <a:r>
              <a:rPr lang="en-US" sz="800" dirty="0">
                <a:latin typeface="Tahoma"/>
                <a:cs typeface="Tahoma"/>
              </a:rPr>
              <a:t>on</a:t>
            </a:r>
            <a:r>
              <a:rPr lang="en-US" sz="800" spc="-5" dirty="0">
                <a:latin typeface="Tahoma"/>
                <a:cs typeface="Tahoma"/>
              </a:rPr>
              <a:t> </a:t>
            </a:r>
            <a:r>
              <a:rPr lang="en-US" sz="800" dirty="0">
                <a:latin typeface="Tahoma"/>
                <a:cs typeface="Tahoma"/>
              </a:rPr>
              <a:t>direction</a:t>
            </a:r>
            <a:r>
              <a:rPr lang="en-US" sz="800" spc="-5" dirty="0">
                <a:latin typeface="Tahoma"/>
                <a:cs typeface="Tahoma"/>
              </a:rPr>
              <a:t> </a:t>
            </a:r>
            <a:r>
              <a:rPr lang="en-US" sz="800" dirty="0">
                <a:latin typeface="Tahoma"/>
                <a:cs typeface="Tahoma"/>
              </a:rPr>
              <a:t>and</a:t>
            </a:r>
            <a:r>
              <a:rPr lang="en-US" sz="800" spc="-5" dirty="0">
                <a:latin typeface="Tahoma"/>
                <a:cs typeface="Tahoma"/>
              </a:rPr>
              <a:t> </a:t>
            </a:r>
            <a:r>
              <a:rPr lang="en-US" sz="800" dirty="0">
                <a:latin typeface="Tahoma"/>
                <a:cs typeface="Tahoma"/>
              </a:rPr>
              <a:t>magnitude</a:t>
            </a:r>
            <a:endParaRPr lang="en-US" sz="800" spc="-10" dirty="0">
              <a:latin typeface="Tahoma"/>
              <a:cs typeface="Tahoma"/>
            </a:endParaRPr>
          </a:p>
          <a:p>
            <a:pPr marL="128270" indent="-115570">
              <a:lnSpc>
                <a:spcPct val="100000"/>
              </a:lnSpc>
              <a:spcBef>
                <a:spcPts val="254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lang="en-US" sz="800" b="1" spc="-20" dirty="0">
                <a:latin typeface="Arial"/>
                <a:cs typeface="Arial"/>
              </a:rPr>
              <a:t>Game</a:t>
            </a:r>
            <a:r>
              <a:rPr lang="en-US" sz="800" b="1" spc="20" dirty="0">
                <a:latin typeface="Arial"/>
                <a:cs typeface="Arial"/>
              </a:rPr>
              <a:t> </a:t>
            </a:r>
            <a:r>
              <a:rPr lang="en-US" sz="800" b="1" spc="-10" dirty="0">
                <a:latin typeface="Arial"/>
                <a:cs typeface="Arial"/>
              </a:rPr>
              <a:t>Length:</a:t>
            </a:r>
            <a:r>
              <a:rPr lang="en-US" sz="800" b="1" spc="100" dirty="0">
                <a:latin typeface="Arial"/>
                <a:cs typeface="Arial"/>
              </a:rPr>
              <a:t> </a:t>
            </a:r>
            <a:r>
              <a:rPr lang="en-US" sz="800" spc="55" dirty="0">
                <a:latin typeface="Tahoma"/>
                <a:cs typeface="Tahoma"/>
              </a:rPr>
              <a:t>GA</a:t>
            </a:r>
            <a:r>
              <a:rPr lang="en-US" sz="800" spc="-15" dirty="0">
                <a:latin typeface="Tahoma"/>
                <a:cs typeface="Tahoma"/>
              </a:rPr>
              <a:t> </a:t>
            </a:r>
            <a:r>
              <a:rPr lang="en-US" sz="800" spc="-10" dirty="0">
                <a:latin typeface="Tahoma"/>
                <a:cs typeface="Tahoma"/>
              </a:rPr>
              <a:t>winner </a:t>
            </a:r>
            <a:r>
              <a:rPr lang="en-US" sz="800" dirty="0">
                <a:latin typeface="Lucida Sans Unicode"/>
                <a:cs typeface="Lucida Sans Unicode"/>
              </a:rPr>
              <a:t>∼</a:t>
            </a:r>
            <a:r>
              <a:rPr lang="en-US" sz="800" b="1" dirty="0">
                <a:latin typeface="Arial"/>
                <a:cs typeface="Arial"/>
              </a:rPr>
              <a:t>50</a:t>
            </a:r>
            <a:r>
              <a:rPr lang="en-US" sz="800" b="1" spc="10" dirty="0">
                <a:latin typeface="Arial"/>
                <a:cs typeface="Arial"/>
              </a:rPr>
              <a:t> </a:t>
            </a:r>
            <a:r>
              <a:rPr lang="en-US" sz="800" spc="-10" dirty="0">
                <a:latin typeface="Tahoma"/>
                <a:cs typeface="Tahoma"/>
              </a:rPr>
              <a:t>rounds</a:t>
            </a:r>
            <a:r>
              <a:rPr lang="en-US" sz="800" spc="-15" dirty="0">
                <a:latin typeface="Tahoma"/>
                <a:cs typeface="Tahoma"/>
              </a:rPr>
              <a:t> </a:t>
            </a:r>
            <a:r>
              <a:rPr lang="en-US" sz="800" dirty="0">
                <a:latin typeface="Tahoma"/>
                <a:cs typeface="Tahoma"/>
              </a:rPr>
              <a:t>vs.</a:t>
            </a:r>
            <a:r>
              <a:rPr lang="en-US" sz="800" spc="-10" dirty="0">
                <a:latin typeface="Tahoma"/>
                <a:cs typeface="Tahoma"/>
              </a:rPr>
              <a:t> </a:t>
            </a:r>
            <a:r>
              <a:rPr lang="en-US" sz="800" b="1" dirty="0">
                <a:latin typeface="Arial"/>
                <a:cs typeface="Arial"/>
              </a:rPr>
              <a:t>131</a:t>
            </a:r>
            <a:r>
              <a:rPr lang="en-US" sz="800" b="1" spc="10" dirty="0">
                <a:latin typeface="Arial"/>
                <a:cs typeface="Arial"/>
              </a:rPr>
              <a:t> </a:t>
            </a:r>
            <a:r>
              <a:rPr lang="en-US" sz="800" spc="-10" dirty="0">
                <a:latin typeface="Tahoma"/>
                <a:cs typeface="Tahoma"/>
              </a:rPr>
              <a:t>default.</a:t>
            </a:r>
            <a:endParaRPr lang="en-US" sz="800" dirty="0">
              <a:latin typeface="Tahoma"/>
              <a:cs typeface="Tahoma"/>
            </a:endParaRPr>
          </a:p>
          <a:p>
            <a:pPr marL="128270" indent="-115570">
              <a:lnSpc>
                <a:spcPct val="100000"/>
              </a:lnSpc>
              <a:spcBef>
                <a:spcPts val="155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lang="en-US" sz="800" b="1" dirty="0">
                <a:latin typeface="Arial"/>
                <a:cs typeface="Arial"/>
              </a:rPr>
              <a:t>Money</a:t>
            </a:r>
            <a:r>
              <a:rPr lang="en-US" sz="800" b="1" spc="25" dirty="0">
                <a:latin typeface="Arial"/>
                <a:cs typeface="Arial"/>
              </a:rPr>
              <a:t> </a:t>
            </a:r>
            <a:r>
              <a:rPr lang="en-US" sz="800" spc="70" dirty="0">
                <a:latin typeface="Tahoma"/>
                <a:cs typeface="Tahoma"/>
              </a:rPr>
              <a:t>+</a:t>
            </a:r>
            <a:r>
              <a:rPr lang="en-US" sz="800" spc="-5" dirty="0">
                <a:latin typeface="Tahoma"/>
                <a:cs typeface="Tahoma"/>
              </a:rPr>
              <a:t> </a:t>
            </a:r>
            <a:r>
              <a:rPr lang="en-US" sz="800" b="1" spc="-35" dirty="0">
                <a:latin typeface="Arial"/>
                <a:cs typeface="Arial"/>
              </a:rPr>
              <a:t>draws:</a:t>
            </a:r>
            <a:r>
              <a:rPr lang="en-US" sz="800" b="1" spc="95" dirty="0">
                <a:latin typeface="Arial"/>
                <a:cs typeface="Arial"/>
              </a:rPr>
              <a:t> </a:t>
            </a:r>
            <a:r>
              <a:rPr lang="en-US" sz="800" dirty="0">
                <a:latin typeface="Tahoma"/>
                <a:cs typeface="Tahoma"/>
              </a:rPr>
              <a:t>$66/r</a:t>
            </a:r>
            <a:r>
              <a:rPr lang="en-US" sz="800" spc="-10" dirty="0">
                <a:latin typeface="Tahoma"/>
                <a:cs typeface="Tahoma"/>
              </a:rPr>
              <a:t> </a:t>
            </a:r>
            <a:r>
              <a:rPr lang="en-US" sz="800" dirty="0">
                <a:latin typeface="Tahoma"/>
                <a:cs typeface="Tahoma"/>
              </a:rPr>
              <a:t>vs.</a:t>
            </a:r>
            <a:r>
              <a:rPr lang="en-US" sz="800" spc="-10" dirty="0">
                <a:latin typeface="Tahoma"/>
                <a:cs typeface="Tahoma"/>
              </a:rPr>
              <a:t> $39;</a:t>
            </a:r>
            <a:r>
              <a:rPr lang="en-US" sz="800" spc="-15" dirty="0">
                <a:latin typeface="Tahoma"/>
                <a:cs typeface="Tahoma"/>
              </a:rPr>
              <a:t> </a:t>
            </a:r>
            <a:r>
              <a:rPr lang="en-US" sz="800" spc="-10" dirty="0">
                <a:latin typeface="Tahoma"/>
                <a:cs typeface="Tahoma"/>
              </a:rPr>
              <a:t>0% </a:t>
            </a:r>
            <a:r>
              <a:rPr lang="en-US" sz="800" dirty="0">
                <a:latin typeface="Tahoma"/>
                <a:cs typeface="Tahoma"/>
              </a:rPr>
              <a:t>vs.</a:t>
            </a:r>
            <a:r>
              <a:rPr lang="en-US" sz="800" spc="-15" dirty="0">
                <a:latin typeface="Tahoma"/>
                <a:cs typeface="Tahoma"/>
              </a:rPr>
              <a:t> </a:t>
            </a:r>
            <a:r>
              <a:rPr lang="en-US" sz="800" spc="-20" dirty="0">
                <a:latin typeface="Tahoma"/>
                <a:cs typeface="Tahoma"/>
              </a:rPr>
              <a:t>40%</a:t>
            </a:r>
            <a:r>
              <a:rPr lang="en-US" sz="800" spc="-10" dirty="0">
                <a:latin typeface="Tahoma"/>
                <a:cs typeface="Tahoma"/>
              </a:rPr>
              <a:t> draws.</a:t>
            </a:r>
            <a:endParaRPr lang="en-US" sz="8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3CAD-122F-B289-4E8D-1F38E581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E56F51C-C6B1-32BC-B128-AA298DA16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49917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50" dirty="0"/>
              <a:t>Game-</a:t>
            </a:r>
            <a:r>
              <a:rPr lang="en-US" spc="-10" dirty="0"/>
              <a:t>design</a:t>
            </a:r>
            <a:r>
              <a:rPr lang="en-US" dirty="0"/>
              <a:t> </a:t>
            </a:r>
            <a:r>
              <a:rPr lang="en-US" spc="-50" dirty="0"/>
              <a:t>insights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1915402-FD2E-7958-F63F-A77346FAF3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366" y="327025"/>
            <a:ext cx="4083022" cy="202388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9EB72D23-1589-A833-8485-9209E4A2DDB6}"/>
              </a:ext>
            </a:extLst>
          </p:cNvPr>
          <p:cNvSpPr txBox="1"/>
          <p:nvPr/>
        </p:nvSpPr>
        <p:spPr>
          <a:xfrm>
            <a:off x="520700" y="2386305"/>
            <a:ext cx="4934585" cy="615553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254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lang="en-US" sz="800" b="1" spc="-45" dirty="0">
                <a:latin typeface="Arial"/>
                <a:cs typeface="Arial"/>
              </a:rPr>
              <a:t>Expansion</a:t>
            </a:r>
            <a:r>
              <a:rPr lang="en-US" sz="800" b="1" spc="30" dirty="0">
                <a:latin typeface="Arial"/>
                <a:cs typeface="Arial"/>
              </a:rPr>
              <a:t> </a:t>
            </a:r>
            <a:r>
              <a:rPr lang="en-US" sz="800" spc="90" dirty="0">
                <a:latin typeface="Lucida Sans Unicode"/>
                <a:cs typeface="Lucida Sans Unicode"/>
              </a:rPr>
              <a:t>→</a:t>
            </a:r>
            <a:r>
              <a:rPr lang="en-US" sz="800" spc="-5" dirty="0">
                <a:latin typeface="Lucida Sans Unicode"/>
                <a:cs typeface="Lucida Sans Unicode"/>
              </a:rPr>
              <a:t> </a:t>
            </a:r>
            <a:r>
              <a:rPr lang="en-US" sz="800" b="1" spc="-45" dirty="0">
                <a:latin typeface="Arial"/>
                <a:cs typeface="Arial"/>
              </a:rPr>
              <a:t>solvency:</a:t>
            </a:r>
            <a:r>
              <a:rPr lang="en-US" sz="800" b="1" spc="120" dirty="0">
                <a:latin typeface="Arial"/>
                <a:cs typeface="Arial"/>
              </a:rPr>
              <a:t> </a:t>
            </a:r>
            <a:r>
              <a:rPr lang="en-US" sz="800" b="1" spc="-40" dirty="0">
                <a:latin typeface="Arial"/>
                <a:cs typeface="Arial"/>
              </a:rPr>
              <a:t>losing</a:t>
            </a:r>
            <a:r>
              <a:rPr lang="en-US" sz="800" b="1" spc="30" dirty="0">
                <a:latin typeface="Arial"/>
                <a:cs typeface="Arial"/>
              </a:rPr>
              <a:t> </a:t>
            </a:r>
            <a:r>
              <a:rPr lang="en-US" sz="800" b="1" spc="-30" dirty="0">
                <a:latin typeface="Arial"/>
                <a:cs typeface="Arial"/>
              </a:rPr>
              <a:t>condition</a:t>
            </a:r>
            <a:r>
              <a:rPr lang="en-US" sz="800" b="1" spc="30" dirty="0">
                <a:latin typeface="Arial"/>
                <a:cs typeface="Arial"/>
              </a:rPr>
              <a:t> </a:t>
            </a:r>
            <a:r>
              <a:rPr lang="en-US" sz="800" b="1" spc="-10" dirty="0">
                <a:latin typeface="Arial"/>
                <a:cs typeface="Arial"/>
              </a:rPr>
              <a:t>flips.</a:t>
            </a:r>
            <a:endParaRPr lang="en-US" sz="800" dirty="0">
              <a:latin typeface="Arial"/>
              <a:cs typeface="Arial"/>
            </a:endParaRPr>
          </a:p>
          <a:p>
            <a:pPr marL="380365" lvl="1" indent="-113030">
              <a:lnSpc>
                <a:spcPct val="100000"/>
              </a:lnSpc>
              <a:spcBef>
                <a:spcPts val="135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Default</a:t>
            </a:r>
            <a:r>
              <a:rPr lang="en-US" sz="700" spc="-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(long</a:t>
            </a:r>
            <a:r>
              <a:rPr lang="en-US" sz="700" spc="-5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games,</a:t>
            </a:r>
            <a:r>
              <a:rPr lang="en-US" sz="700" spc="-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low</a:t>
            </a:r>
            <a:r>
              <a:rPr lang="en-US" sz="700" spc="-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rents):</a:t>
            </a:r>
            <a:r>
              <a:rPr lang="en-US" sz="700" spc="75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reward </a:t>
            </a:r>
            <a:r>
              <a:rPr lang="en-US" sz="700" dirty="0">
                <a:latin typeface="Tahoma"/>
                <a:cs typeface="Tahoma"/>
              </a:rPr>
              <a:t>owning</a:t>
            </a:r>
            <a:r>
              <a:rPr lang="en-US" sz="700" spc="-5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more.</a:t>
            </a:r>
            <a:endParaRPr lang="en-US" sz="700" dirty="0">
              <a:latin typeface="Tahoma"/>
              <a:cs typeface="Tahoma"/>
            </a:endParaRPr>
          </a:p>
          <a:p>
            <a:pPr marL="380365" lvl="1" indent="-113030">
              <a:lnSpc>
                <a:spcPct val="100000"/>
              </a:lnSpc>
              <a:spcBef>
                <a:spcPts val="70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GA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winner</a:t>
            </a:r>
            <a:r>
              <a:rPr lang="en-US" sz="700" spc="2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(</a:t>
            </a:r>
            <a:r>
              <a:rPr lang="en-US" sz="700" dirty="0">
                <a:latin typeface="Cambria"/>
                <a:cs typeface="Cambria"/>
              </a:rPr>
              <a:t>∼</a:t>
            </a:r>
            <a:r>
              <a:rPr lang="en-US" sz="700" dirty="0">
                <a:latin typeface="Tahoma"/>
                <a:cs typeface="Tahoma"/>
              </a:rPr>
              <a:t>60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rounds,</a:t>
            </a:r>
            <a:r>
              <a:rPr lang="en-US" sz="700" spc="20" dirty="0">
                <a:latin typeface="Tahoma"/>
                <a:cs typeface="Tahoma"/>
              </a:rPr>
              <a:t> </a:t>
            </a:r>
            <a:r>
              <a:rPr lang="en-US" sz="700" spc="55" dirty="0">
                <a:latin typeface="Cambria"/>
                <a:cs typeface="Cambria"/>
              </a:rPr>
              <a:t>∼</a:t>
            </a:r>
            <a:r>
              <a:rPr lang="en-US" sz="700" spc="55" dirty="0">
                <a:latin typeface="Tahoma"/>
                <a:cs typeface="Tahoma"/>
              </a:rPr>
              <a:t>1</a:t>
            </a:r>
            <a:r>
              <a:rPr lang="en-US" sz="700" i="1" spc="55" dirty="0">
                <a:latin typeface="Trebuchet MS"/>
                <a:cs typeface="Trebuchet MS"/>
              </a:rPr>
              <a:t>.</a:t>
            </a:r>
            <a:r>
              <a:rPr lang="en-US" sz="700" spc="55" dirty="0">
                <a:latin typeface="Tahoma"/>
                <a:cs typeface="Tahoma"/>
              </a:rPr>
              <a:t>3</a:t>
            </a:r>
            <a:r>
              <a:rPr lang="en-US" sz="700" spc="55" dirty="0">
                <a:latin typeface="Cambria"/>
                <a:cs typeface="Cambria"/>
              </a:rPr>
              <a:t>×</a:t>
            </a:r>
            <a:r>
              <a:rPr lang="en-US" sz="700" spc="80" dirty="0">
                <a:latin typeface="Cambria"/>
                <a:cs typeface="Cambria"/>
              </a:rPr>
              <a:t> </a:t>
            </a:r>
            <a:r>
              <a:rPr lang="en-US" sz="700" dirty="0">
                <a:latin typeface="Tahoma"/>
                <a:cs typeface="Tahoma"/>
              </a:rPr>
              <a:t>rent,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spc="55" dirty="0">
                <a:latin typeface="Cambria"/>
                <a:cs typeface="Cambria"/>
              </a:rPr>
              <a:t>∼</a:t>
            </a:r>
            <a:r>
              <a:rPr lang="en-US" sz="700" spc="55" dirty="0">
                <a:latin typeface="Tahoma"/>
                <a:cs typeface="Tahoma"/>
              </a:rPr>
              <a:t>1</a:t>
            </a:r>
            <a:r>
              <a:rPr lang="en-US" sz="700" i="1" spc="55" dirty="0">
                <a:latin typeface="Trebuchet MS"/>
                <a:cs typeface="Trebuchet MS"/>
              </a:rPr>
              <a:t>.</a:t>
            </a:r>
            <a:r>
              <a:rPr lang="en-US" sz="700" spc="55" dirty="0">
                <a:latin typeface="Tahoma"/>
                <a:cs typeface="Tahoma"/>
              </a:rPr>
              <a:t>6</a:t>
            </a:r>
            <a:r>
              <a:rPr lang="en-US" sz="700" spc="55" dirty="0">
                <a:latin typeface="Cambria"/>
                <a:cs typeface="Cambria"/>
              </a:rPr>
              <a:t>×</a:t>
            </a:r>
            <a:r>
              <a:rPr lang="en-US" sz="700" spc="80" dirty="0">
                <a:latin typeface="Cambria"/>
                <a:cs typeface="Cambria"/>
              </a:rPr>
              <a:t> </a:t>
            </a:r>
            <a:r>
              <a:rPr lang="en-US" sz="700" dirty="0">
                <a:latin typeface="Tahoma"/>
                <a:cs typeface="Tahoma"/>
              </a:rPr>
              <a:t>cost):</a:t>
            </a:r>
            <a:r>
              <a:rPr lang="en-US" sz="700" spc="105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reward</a:t>
            </a:r>
            <a:r>
              <a:rPr lang="en-US" sz="700" spc="2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staying</a:t>
            </a:r>
            <a:r>
              <a:rPr lang="en-US" sz="700" spc="20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solvent.</a:t>
            </a:r>
            <a:endParaRPr lang="en-US" sz="700" dirty="0">
              <a:latin typeface="Tahoma"/>
              <a:cs typeface="Tahoma"/>
            </a:endParaRPr>
          </a:p>
          <a:p>
            <a:pPr marL="380365" lvl="1" indent="-113030">
              <a:lnSpc>
                <a:spcPct val="100000"/>
              </a:lnSpc>
              <a:spcBef>
                <a:spcPts val="70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One</a:t>
            </a:r>
            <a:r>
              <a:rPr lang="en-US" sz="700" spc="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bad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landing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can</a:t>
            </a:r>
            <a:r>
              <a:rPr lang="en-US" sz="700" spc="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drain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a</a:t>
            </a:r>
            <a:r>
              <a:rPr lang="en-US" sz="700" spc="5" dirty="0">
                <a:latin typeface="Tahoma"/>
                <a:cs typeface="Tahoma"/>
              </a:rPr>
              <a:t> </a:t>
            </a:r>
            <a:r>
              <a:rPr lang="en-US" sz="700" dirty="0">
                <a:latin typeface="Trebuchet MS"/>
                <a:cs typeface="Trebuchet MS"/>
              </a:rPr>
              <a:t>$</a:t>
            </a:r>
            <a:r>
              <a:rPr lang="en-US" sz="700" dirty="0">
                <a:latin typeface="Tahoma"/>
                <a:cs typeface="Tahoma"/>
              </a:rPr>
              <a:t>300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reserve.</a:t>
            </a:r>
            <a:endParaRPr lang="en-US" sz="700" dirty="0">
              <a:latin typeface="Tahoma"/>
              <a:cs typeface="Tahoma"/>
            </a:endParaRPr>
          </a:p>
          <a:p>
            <a:pPr marL="380365" lvl="1" indent="-113030">
              <a:lnSpc>
                <a:spcPct val="100000"/>
              </a:lnSpc>
              <a:spcBef>
                <a:spcPts val="65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 err="1">
                <a:latin typeface="Tahoma"/>
                <a:cs typeface="Tahoma"/>
              </a:rPr>
              <a:t>AggressiveBuilder</a:t>
            </a:r>
            <a:r>
              <a:rPr lang="en-US" sz="700" spc="-4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vs.</a:t>
            </a:r>
            <a:r>
              <a:rPr lang="en-US" sz="700" spc="-15" dirty="0">
                <a:latin typeface="Tahoma"/>
                <a:cs typeface="Tahoma"/>
              </a:rPr>
              <a:t> </a:t>
            </a:r>
            <a:r>
              <a:rPr lang="en-US" sz="700" dirty="0" err="1">
                <a:latin typeface="Tahoma"/>
                <a:cs typeface="Tahoma"/>
              </a:rPr>
              <a:t>CashHoarder</a:t>
            </a:r>
            <a:r>
              <a:rPr lang="en-US" sz="700" dirty="0">
                <a:latin typeface="Tahoma"/>
                <a:cs typeface="Tahoma"/>
              </a:rPr>
              <a:t>:</a:t>
            </a:r>
            <a:r>
              <a:rPr lang="en-US" sz="700" spc="60" dirty="0">
                <a:latin typeface="Tahoma"/>
                <a:cs typeface="Tahoma"/>
              </a:rPr>
              <a:t> </a:t>
            </a:r>
            <a:r>
              <a:rPr lang="en-US" sz="700" spc="-30" dirty="0">
                <a:latin typeface="Tahoma"/>
                <a:cs typeface="Tahoma"/>
              </a:rPr>
              <a:t>0</a:t>
            </a:r>
            <a:r>
              <a:rPr lang="en-US" sz="700" i="1" spc="-30" dirty="0">
                <a:latin typeface="Trebuchet MS"/>
                <a:cs typeface="Trebuchet MS"/>
              </a:rPr>
              <a:t>.</a:t>
            </a:r>
            <a:r>
              <a:rPr lang="en-US" sz="700" spc="-30" dirty="0">
                <a:latin typeface="Tahoma"/>
                <a:cs typeface="Tahoma"/>
              </a:rPr>
              <a:t>80</a:t>
            </a:r>
            <a:r>
              <a:rPr lang="en-US" sz="700" spc="-130" dirty="0">
                <a:latin typeface="Tahoma"/>
                <a:cs typeface="Tahoma"/>
              </a:rPr>
              <a:t> </a:t>
            </a:r>
            <a:r>
              <a:rPr lang="en-US" sz="700" spc="204" dirty="0">
                <a:latin typeface="Cambria"/>
                <a:cs typeface="Cambria"/>
              </a:rPr>
              <a:t>→</a:t>
            </a:r>
            <a:r>
              <a:rPr lang="en-US" sz="700" spc="-65" dirty="0">
                <a:latin typeface="Cambria"/>
                <a:cs typeface="Cambri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0</a:t>
            </a:r>
            <a:r>
              <a:rPr lang="en-US" sz="700" i="1" spc="-10" dirty="0">
                <a:latin typeface="Trebuchet MS"/>
                <a:cs typeface="Trebuchet MS"/>
              </a:rPr>
              <a:t>.</a:t>
            </a:r>
            <a:r>
              <a:rPr lang="en-US" sz="700" spc="-10" dirty="0">
                <a:latin typeface="Tahoma"/>
                <a:cs typeface="Tahoma"/>
              </a:rPr>
              <a:t>45</a:t>
            </a:r>
            <a:r>
              <a:rPr lang="en-US" sz="700" spc="-15" dirty="0">
                <a:latin typeface="Tahoma"/>
                <a:cs typeface="Tahoma"/>
              </a:rPr>
              <a:t> </a:t>
            </a:r>
            <a:r>
              <a:rPr lang="en-US" sz="700" spc="-20" dirty="0">
                <a:latin typeface="Tahoma"/>
                <a:cs typeface="Tahoma"/>
              </a:rPr>
              <a:t>(WR).</a:t>
            </a:r>
            <a:endParaRPr lang="en-US" sz="7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1748113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C4AA-BB78-BB8A-DEDB-F913C881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06C57FB-8F79-F75D-CCD9-81AA3ED306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49917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50" dirty="0"/>
              <a:t>Game-</a:t>
            </a:r>
            <a:r>
              <a:rPr lang="en-US" spc="-10" dirty="0"/>
              <a:t>design</a:t>
            </a:r>
            <a:r>
              <a:rPr lang="en-US" dirty="0"/>
              <a:t> </a:t>
            </a:r>
            <a:r>
              <a:rPr lang="en-US" spc="-50" dirty="0"/>
              <a:t>insights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5F62C21-66D2-53AE-F930-D2BB95797B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366" y="327025"/>
            <a:ext cx="4083022" cy="202388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9FC03629-E774-9033-83E5-6379CD09F6F4}"/>
              </a:ext>
            </a:extLst>
          </p:cNvPr>
          <p:cNvSpPr txBox="1"/>
          <p:nvPr/>
        </p:nvSpPr>
        <p:spPr>
          <a:xfrm>
            <a:off x="520700" y="2386305"/>
            <a:ext cx="4934585" cy="37446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455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lang="en-US" sz="800" b="1" spc="-25" dirty="0">
                <a:latin typeface="Arial"/>
                <a:cs typeface="Arial"/>
              </a:rPr>
              <a:t>Smaller</a:t>
            </a:r>
            <a:r>
              <a:rPr lang="en-US" sz="800" b="1" spc="15" dirty="0">
                <a:latin typeface="Arial"/>
                <a:cs typeface="Arial"/>
              </a:rPr>
              <a:t> </a:t>
            </a:r>
            <a:r>
              <a:rPr lang="en-US" sz="800" b="1" spc="-30" dirty="0" err="1">
                <a:latin typeface="Arial"/>
                <a:cs typeface="Arial"/>
              </a:rPr>
              <a:t>colour</a:t>
            </a:r>
            <a:r>
              <a:rPr lang="en-US" sz="800" b="1" spc="15" dirty="0">
                <a:latin typeface="Arial"/>
                <a:cs typeface="Arial"/>
              </a:rPr>
              <a:t> </a:t>
            </a:r>
            <a:r>
              <a:rPr lang="en-US" sz="800" b="1" spc="-45" dirty="0">
                <a:latin typeface="Arial"/>
                <a:cs typeface="Arial"/>
              </a:rPr>
              <a:t>groups</a:t>
            </a:r>
            <a:r>
              <a:rPr lang="en-US" sz="800" b="1" spc="20" dirty="0">
                <a:latin typeface="Arial"/>
                <a:cs typeface="Arial"/>
              </a:rPr>
              <a:t> </a:t>
            </a:r>
            <a:r>
              <a:rPr lang="en-US" sz="800" b="1" spc="-25" dirty="0">
                <a:latin typeface="Arial"/>
                <a:cs typeface="Arial"/>
              </a:rPr>
              <a:t>make</a:t>
            </a:r>
            <a:r>
              <a:rPr lang="en-US" sz="800" b="1" spc="15" dirty="0">
                <a:latin typeface="Arial"/>
                <a:cs typeface="Arial"/>
              </a:rPr>
              <a:t> </a:t>
            </a:r>
            <a:r>
              <a:rPr lang="en-US" sz="800" b="1" spc="-25" dirty="0">
                <a:latin typeface="Arial"/>
                <a:cs typeface="Arial"/>
              </a:rPr>
              <a:t>all-</a:t>
            </a:r>
            <a:r>
              <a:rPr lang="en-US" sz="800" b="1" dirty="0">
                <a:latin typeface="Arial"/>
                <a:cs typeface="Arial"/>
              </a:rPr>
              <a:t>in</a:t>
            </a:r>
            <a:r>
              <a:rPr lang="en-US" sz="800" b="1" spc="20" dirty="0">
                <a:latin typeface="Arial"/>
                <a:cs typeface="Arial"/>
              </a:rPr>
              <a:t> </a:t>
            </a:r>
            <a:r>
              <a:rPr lang="en-US" sz="800" b="1" spc="-40" dirty="0">
                <a:latin typeface="Arial"/>
                <a:cs typeface="Arial"/>
              </a:rPr>
              <a:t>builds</a:t>
            </a:r>
            <a:r>
              <a:rPr lang="en-US" sz="800" b="1" spc="15" dirty="0">
                <a:latin typeface="Arial"/>
                <a:cs typeface="Arial"/>
              </a:rPr>
              <a:t> </a:t>
            </a:r>
            <a:r>
              <a:rPr lang="en-US" sz="800" b="1" spc="-10" dirty="0">
                <a:latin typeface="Arial"/>
                <a:cs typeface="Arial"/>
              </a:rPr>
              <a:t>work.</a:t>
            </a:r>
            <a:endParaRPr lang="en-US" sz="800" dirty="0">
              <a:latin typeface="Arial"/>
              <a:cs typeface="Arial"/>
            </a:endParaRPr>
          </a:p>
          <a:p>
            <a:pPr marL="380365" lvl="1" indent="-113030">
              <a:lnSpc>
                <a:spcPct val="100000"/>
              </a:lnSpc>
              <a:spcBef>
                <a:spcPts val="135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Default:</a:t>
            </a:r>
            <a:r>
              <a:rPr lang="en-US" sz="700" spc="9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cheap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2-</a:t>
            </a:r>
            <a:r>
              <a:rPr lang="en-US" sz="700" dirty="0">
                <a:latin typeface="Tahoma"/>
                <a:cs typeface="Tahoma"/>
              </a:rPr>
              <a:t>cell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groups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(Brown)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can’t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win;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need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an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expensive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triplet.</a:t>
            </a:r>
            <a:endParaRPr lang="en-US" sz="700" dirty="0">
              <a:latin typeface="Tahoma"/>
              <a:cs typeface="Tahoma"/>
            </a:endParaRPr>
          </a:p>
          <a:p>
            <a:pPr marL="380365" lvl="1" indent="-113030">
              <a:lnSpc>
                <a:spcPct val="100000"/>
              </a:lnSpc>
              <a:spcBef>
                <a:spcPts val="65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GA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winner:</a:t>
            </a:r>
            <a:r>
              <a:rPr lang="en-US" sz="700" spc="120" dirty="0">
                <a:latin typeface="Tahoma"/>
                <a:cs typeface="Tahoma"/>
              </a:rPr>
              <a:t> </a:t>
            </a:r>
            <a:r>
              <a:rPr lang="en-US" sz="700" spc="-25" dirty="0">
                <a:latin typeface="Tahoma"/>
                <a:cs typeface="Tahoma"/>
              </a:rPr>
              <a:t>1–</a:t>
            </a:r>
            <a:r>
              <a:rPr lang="en-US" sz="700" dirty="0">
                <a:latin typeface="Tahoma"/>
                <a:cs typeface="Tahoma"/>
              </a:rPr>
              <a:t>2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cell</a:t>
            </a:r>
            <a:r>
              <a:rPr lang="en-US" sz="700" spc="3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groups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spc="60" dirty="0">
                <a:latin typeface="Tahoma"/>
                <a:cs typeface="Tahoma"/>
              </a:rPr>
              <a:t>+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1</a:t>
            </a:r>
            <a:r>
              <a:rPr lang="en-US" sz="700" i="1" dirty="0">
                <a:latin typeface="Trebuchet MS"/>
                <a:cs typeface="Trebuchet MS"/>
              </a:rPr>
              <a:t>.</a:t>
            </a:r>
            <a:r>
              <a:rPr lang="en-US" sz="700" dirty="0">
                <a:latin typeface="Tahoma"/>
                <a:cs typeface="Tahoma"/>
              </a:rPr>
              <a:t>6</a:t>
            </a:r>
            <a:r>
              <a:rPr lang="en-US" sz="700" dirty="0">
                <a:latin typeface="Cambria"/>
                <a:cs typeface="Cambria"/>
              </a:rPr>
              <a:t>×</a:t>
            </a:r>
            <a:r>
              <a:rPr lang="en-US" sz="700" spc="90" dirty="0">
                <a:latin typeface="Cambria"/>
                <a:cs typeface="Cambria"/>
              </a:rPr>
              <a:t> </a:t>
            </a:r>
            <a:r>
              <a:rPr lang="en-US" sz="700" dirty="0">
                <a:latin typeface="Tahoma"/>
                <a:cs typeface="Tahoma"/>
              </a:rPr>
              <a:t>cost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spc="105" dirty="0">
                <a:latin typeface="Tahoma"/>
                <a:cs typeface="Tahoma"/>
              </a:rPr>
              <a:t>/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1</a:t>
            </a:r>
            <a:r>
              <a:rPr lang="en-US" sz="700" i="1" dirty="0">
                <a:latin typeface="Trebuchet MS"/>
                <a:cs typeface="Trebuchet MS"/>
              </a:rPr>
              <a:t>.</a:t>
            </a:r>
            <a:r>
              <a:rPr lang="en-US" sz="700" dirty="0">
                <a:latin typeface="Tahoma"/>
                <a:cs typeface="Tahoma"/>
              </a:rPr>
              <a:t>3</a:t>
            </a:r>
            <a:r>
              <a:rPr lang="en-US" sz="700" dirty="0">
                <a:latin typeface="Cambria"/>
                <a:cs typeface="Cambria"/>
              </a:rPr>
              <a:t>×</a:t>
            </a:r>
            <a:r>
              <a:rPr lang="en-US" sz="700" spc="90" dirty="0">
                <a:latin typeface="Cambria"/>
                <a:cs typeface="Cambria"/>
              </a:rPr>
              <a:t> </a:t>
            </a:r>
            <a:r>
              <a:rPr lang="en-US" sz="700" dirty="0">
                <a:latin typeface="Tahoma"/>
                <a:cs typeface="Tahoma"/>
              </a:rPr>
              <a:t>rent</a:t>
            </a:r>
            <a:r>
              <a:rPr lang="en-US" sz="700" spc="35" dirty="0">
                <a:latin typeface="Tahoma"/>
                <a:cs typeface="Tahoma"/>
              </a:rPr>
              <a:t> </a:t>
            </a:r>
            <a:r>
              <a:rPr lang="en-US" sz="700" spc="204" dirty="0">
                <a:latin typeface="Cambria"/>
                <a:cs typeface="Cambria"/>
              </a:rPr>
              <a:t>→</a:t>
            </a:r>
            <a:r>
              <a:rPr lang="en-US" sz="700" spc="90" dirty="0">
                <a:latin typeface="Cambria"/>
                <a:cs typeface="Cambria"/>
              </a:rPr>
              <a:t> </a:t>
            </a:r>
            <a:r>
              <a:rPr lang="en-US" sz="700" dirty="0">
                <a:latin typeface="Tahoma"/>
                <a:cs typeface="Tahoma"/>
              </a:rPr>
              <a:t>max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houses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spc="60" dirty="0">
                <a:latin typeface="Tahoma"/>
                <a:cs typeface="Tahoma"/>
              </a:rPr>
              <a:t>+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hotel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pays</a:t>
            </a:r>
            <a:r>
              <a:rPr lang="en-US" sz="700" spc="30" dirty="0">
                <a:latin typeface="Tahoma"/>
                <a:cs typeface="Tahoma"/>
              </a:rPr>
              <a:t> </a:t>
            </a:r>
            <a:r>
              <a:rPr lang="en-US" sz="700" spc="-20" dirty="0">
                <a:latin typeface="Tahoma"/>
                <a:cs typeface="Tahoma"/>
              </a:rPr>
              <a:t>off.</a:t>
            </a:r>
            <a:endParaRPr lang="en-US" sz="7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84817167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563D-7D32-963D-0720-869C309A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B7B75D0-E353-5287-10F9-9786D14840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49917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50" dirty="0"/>
              <a:t>Game-</a:t>
            </a:r>
            <a:r>
              <a:rPr lang="en-US" spc="-10" dirty="0"/>
              <a:t>design</a:t>
            </a:r>
            <a:r>
              <a:rPr lang="en-US" dirty="0"/>
              <a:t> </a:t>
            </a:r>
            <a:r>
              <a:rPr lang="en-US" spc="-50" dirty="0"/>
              <a:t>insights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5D30ADA-6F5F-8A76-3CBD-568F7472F1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366" y="327025"/>
            <a:ext cx="4083022" cy="202388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F942CDD-6485-DB44-45B6-2E6BB87521E5}"/>
              </a:ext>
            </a:extLst>
          </p:cNvPr>
          <p:cNvSpPr txBox="1"/>
          <p:nvPr/>
        </p:nvSpPr>
        <p:spPr>
          <a:xfrm>
            <a:off x="520700" y="2386305"/>
            <a:ext cx="4934585" cy="615553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455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lang="en-US" sz="800" b="1" spc="-25" dirty="0">
                <a:latin typeface="Arial"/>
                <a:cs typeface="Arial"/>
              </a:rPr>
              <a:t>Blocking</a:t>
            </a:r>
            <a:r>
              <a:rPr lang="en-US" sz="800" b="1" spc="10" dirty="0">
                <a:latin typeface="Arial"/>
                <a:cs typeface="Arial"/>
              </a:rPr>
              <a:t> </a:t>
            </a:r>
            <a:r>
              <a:rPr lang="en-US" sz="800" b="1" spc="-35" dirty="0">
                <a:latin typeface="Arial"/>
                <a:cs typeface="Arial"/>
              </a:rPr>
              <a:t>opponents</a:t>
            </a:r>
            <a:r>
              <a:rPr lang="en-US" sz="800" b="1" spc="15" dirty="0">
                <a:latin typeface="Arial"/>
                <a:cs typeface="Arial"/>
              </a:rPr>
              <a:t> </a:t>
            </a:r>
            <a:r>
              <a:rPr lang="en-US" sz="800" b="1" spc="-40" dirty="0">
                <a:latin typeface="Arial"/>
                <a:cs typeface="Arial"/>
              </a:rPr>
              <a:t>stops</a:t>
            </a:r>
            <a:r>
              <a:rPr lang="en-US" sz="800" b="1" spc="10" dirty="0">
                <a:latin typeface="Arial"/>
                <a:cs typeface="Arial"/>
              </a:rPr>
              <a:t> </a:t>
            </a:r>
            <a:r>
              <a:rPr lang="en-US" sz="800" b="1" spc="-10" dirty="0">
                <a:latin typeface="Arial"/>
                <a:cs typeface="Arial"/>
              </a:rPr>
              <a:t>working.</a:t>
            </a:r>
            <a:endParaRPr lang="en-US" sz="800" dirty="0">
              <a:latin typeface="Arial"/>
              <a:cs typeface="Arial"/>
            </a:endParaRPr>
          </a:p>
          <a:p>
            <a:pPr marL="380365" lvl="1" indent="-113030">
              <a:lnSpc>
                <a:spcPct val="100000"/>
              </a:lnSpc>
              <a:spcBef>
                <a:spcPts val="135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Default:</a:t>
            </a:r>
            <a:r>
              <a:rPr lang="en-US" sz="700" spc="9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buy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one</a:t>
            </a:r>
            <a:r>
              <a:rPr lang="en-US" sz="700" spc="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cell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of</a:t>
            </a:r>
            <a:r>
              <a:rPr lang="en-US" sz="700" spc="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opponent’s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set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to</a:t>
            </a:r>
            <a:r>
              <a:rPr lang="en-US" sz="700" spc="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deny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completion.</a:t>
            </a:r>
            <a:endParaRPr lang="en-US" sz="700" dirty="0">
              <a:latin typeface="Tahoma"/>
              <a:cs typeface="Tahoma"/>
            </a:endParaRPr>
          </a:p>
          <a:p>
            <a:pPr marL="380365" lvl="1" indent="-113030">
              <a:lnSpc>
                <a:spcPct val="100000"/>
              </a:lnSpc>
              <a:spcBef>
                <a:spcPts val="70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GA</a:t>
            </a:r>
            <a:r>
              <a:rPr lang="en-US" sz="700" spc="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winner:</a:t>
            </a:r>
            <a:r>
              <a:rPr lang="en-US" sz="700" spc="95" dirty="0">
                <a:latin typeface="Tahoma"/>
                <a:cs typeface="Tahoma"/>
              </a:rPr>
              <a:t> </a:t>
            </a:r>
            <a:r>
              <a:rPr lang="en-US" sz="700" spc="-25" dirty="0">
                <a:latin typeface="Tahoma"/>
                <a:cs typeface="Tahoma"/>
              </a:rPr>
              <a:t>1–</a:t>
            </a:r>
            <a:r>
              <a:rPr lang="en-US" sz="700" dirty="0">
                <a:latin typeface="Tahoma"/>
                <a:cs typeface="Tahoma"/>
              </a:rPr>
              <a:t>2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cell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sets</a:t>
            </a:r>
            <a:r>
              <a:rPr lang="en-US" sz="700" spc="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complete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on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first</a:t>
            </a:r>
            <a:r>
              <a:rPr lang="en-US" sz="700" spc="10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landing.</a:t>
            </a:r>
            <a:endParaRPr lang="en-US" sz="700" dirty="0">
              <a:latin typeface="Tahoma"/>
              <a:cs typeface="Tahoma"/>
            </a:endParaRPr>
          </a:p>
          <a:p>
            <a:pPr marL="380365" lvl="1" indent="-113030">
              <a:lnSpc>
                <a:spcPct val="100000"/>
              </a:lnSpc>
              <a:spcBef>
                <a:spcPts val="65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Higher</a:t>
            </a:r>
            <a:r>
              <a:rPr lang="en-US" sz="700" spc="-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costs</a:t>
            </a:r>
            <a:r>
              <a:rPr lang="en-US" sz="700" spc="-10" dirty="0">
                <a:latin typeface="Tahoma"/>
                <a:cs typeface="Tahoma"/>
              </a:rPr>
              <a:t> </a:t>
            </a:r>
            <a:r>
              <a:rPr lang="en-US" sz="700" spc="45" dirty="0">
                <a:latin typeface="Tahoma"/>
                <a:cs typeface="Tahoma"/>
              </a:rPr>
              <a:t>(</a:t>
            </a:r>
            <a:r>
              <a:rPr lang="en-US" sz="700" spc="45" dirty="0">
                <a:latin typeface="Cambria"/>
                <a:cs typeface="Cambria"/>
              </a:rPr>
              <a:t>∼</a:t>
            </a:r>
            <a:r>
              <a:rPr lang="en-US" sz="700" spc="45" dirty="0">
                <a:latin typeface="Tahoma"/>
                <a:cs typeface="Tahoma"/>
              </a:rPr>
              <a:t>1</a:t>
            </a:r>
            <a:r>
              <a:rPr lang="en-US" sz="700" i="1" spc="45" dirty="0">
                <a:latin typeface="Trebuchet MS"/>
                <a:cs typeface="Trebuchet MS"/>
              </a:rPr>
              <a:t>.</a:t>
            </a:r>
            <a:r>
              <a:rPr lang="en-US" sz="700" spc="45" dirty="0">
                <a:latin typeface="Tahoma"/>
                <a:cs typeface="Tahoma"/>
              </a:rPr>
              <a:t>6</a:t>
            </a:r>
            <a:r>
              <a:rPr lang="en-US" sz="700" spc="45" dirty="0">
                <a:latin typeface="Cambria"/>
                <a:cs typeface="Cambria"/>
              </a:rPr>
              <a:t>×</a:t>
            </a:r>
            <a:r>
              <a:rPr lang="en-US" sz="700" spc="45" dirty="0">
                <a:latin typeface="Tahoma"/>
                <a:cs typeface="Tahoma"/>
              </a:rPr>
              <a:t>)</a:t>
            </a:r>
            <a:r>
              <a:rPr lang="en-US" sz="700" spc="-10" dirty="0">
                <a:latin typeface="Tahoma"/>
                <a:cs typeface="Tahoma"/>
              </a:rPr>
              <a:t> prevent </a:t>
            </a:r>
            <a:r>
              <a:rPr lang="en-US" sz="700" dirty="0">
                <a:latin typeface="Tahoma"/>
                <a:cs typeface="Tahoma"/>
              </a:rPr>
              <a:t>hoarding</a:t>
            </a:r>
            <a:r>
              <a:rPr lang="en-US" sz="700" spc="-1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properties</a:t>
            </a:r>
            <a:r>
              <a:rPr lang="en-US" sz="700" spc="-5" dirty="0">
                <a:latin typeface="Tahoma"/>
                <a:cs typeface="Tahoma"/>
              </a:rPr>
              <a:t> </a:t>
            </a:r>
            <a:r>
              <a:rPr lang="en-US" sz="700" spc="-10" dirty="0">
                <a:latin typeface="Tahoma"/>
                <a:cs typeface="Tahoma"/>
              </a:rPr>
              <a:t>before </a:t>
            </a:r>
            <a:r>
              <a:rPr lang="en-US" sz="700" dirty="0">
                <a:latin typeface="Tahoma"/>
                <a:cs typeface="Tahoma"/>
              </a:rPr>
              <a:t>crossing</a:t>
            </a:r>
            <a:r>
              <a:rPr lang="en-US" sz="700" spc="-10" dirty="0">
                <a:latin typeface="Tahoma"/>
                <a:cs typeface="Tahoma"/>
              </a:rPr>
              <a:t> </a:t>
            </a:r>
            <a:r>
              <a:rPr lang="en-US" sz="700" spc="-25" dirty="0">
                <a:latin typeface="Tahoma"/>
                <a:cs typeface="Tahoma"/>
              </a:rPr>
              <a:t>GO.</a:t>
            </a:r>
            <a:endParaRPr lang="en-US" sz="700" dirty="0">
              <a:latin typeface="Tahoma"/>
              <a:cs typeface="Tahoma"/>
            </a:endParaRPr>
          </a:p>
          <a:p>
            <a:pPr marL="380365" lvl="1" indent="-113030">
              <a:lnSpc>
                <a:spcPct val="100000"/>
              </a:lnSpc>
              <a:spcBef>
                <a:spcPts val="70"/>
              </a:spcBef>
              <a:buFont typeface="Cambria"/>
              <a:buChar char="◦"/>
              <a:tabLst>
                <a:tab pos="380365" algn="l"/>
              </a:tabLst>
            </a:pPr>
            <a:r>
              <a:rPr lang="en-US" sz="700" dirty="0">
                <a:latin typeface="Tahoma"/>
                <a:cs typeface="Tahoma"/>
              </a:rPr>
              <a:t>Something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rent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tuning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alone</a:t>
            </a:r>
            <a:r>
              <a:rPr lang="en-US" sz="700" spc="20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could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dirty="0">
                <a:latin typeface="Tahoma"/>
                <a:cs typeface="Tahoma"/>
              </a:rPr>
              <a:t>not</a:t>
            </a:r>
            <a:r>
              <a:rPr lang="en-US" sz="700" spc="15" dirty="0">
                <a:latin typeface="Tahoma"/>
                <a:cs typeface="Tahoma"/>
              </a:rPr>
              <a:t> </a:t>
            </a:r>
            <a:r>
              <a:rPr lang="en-US" sz="700" spc="-25" dirty="0">
                <a:latin typeface="Tahoma"/>
                <a:cs typeface="Tahoma"/>
              </a:rPr>
              <a:t>do.</a:t>
            </a:r>
            <a:endParaRPr lang="en-US" sz="7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77334240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What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GA</a:t>
            </a:r>
            <a:r>
              <a:rPr spc="65" dirty="0"/>
              <a:t> </a:t>
            </a:r>
            <a:r>
              <a:rPr dirty="0"/>
              <a:t>fixed:</a:t>
            </a:r>
            <a:r>
              <a:rPr spc="215" dirty="0"/>
              <a:t> </a:t>
            </a:r>
            <a:r>
              <a:rPr spc="-20" dirty="0"/>
              <a:t>which</a:t>
            </a:r>
            <a:r>
              <a:rPr spc="70" dirty="0"/>
              <a:t> </a:t>
            </a:r>
            <a:r>
              <a:rPr spc="-35" dirty="0"/>
              <a:t>archetypes</a:t>
            </a:r>
            <a:r>
              <a:rPr spc="65" dirty="0"/>
              <a:t> </a:t>
            </a:r>
            <a:r>
              <a:rPr dirty="0"/>
              <a:t>win</a:t>
            </a:r>
            <a:r>
              <a:rPr spc="65" dirty="0"/>
              <a:t> </a:t>
            </a:r>
            <a:r>
              <a:rPr spc="-10" dirty="0"/>
              <a:t>more</a:t>
            </a:r>
            <a:r>
              <a:rPr spc="70" dirty="0"/>
              <a:t> </a:t>
            </a:r>
            <a:r>
              <a:rPr dirty="0"/>
              <a:t>(and</a:t>
            </a:r>
            <a:r>
              <a:rPr spc="65" dirty="0"/>
              <a:t> </a:t>
            </a:r>
            <a:r>
              <a:rPr spc="-30" dirty="0"/>
              <a:t>less)?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4289" y="462955"/>
            <a:ext cx="2531390" cy="18405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311" y="2407088"/>
            <a:ext cx="4928870" cy="57387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254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b="1" dirty="0">
                <a:latin typeface="Arial"/>
                <a:cs typeface="Arial"/>
              </a:rPr>
              <a:t>GA </a:t>
            </a:r>
            <a:r>
              <a:rPr sz="800" b="1" spc="-25" dirty="0">
                <a:latin typeface="Arial"/>
                <a:cs typeface="Arial"/>
              </a:rPr>
              <a:t>winner</a:t>
            </a:r>
            <a:r>
              <a:rPr sz="800" b="1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reshuffles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who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wins,</a:t>
            </a:r>
            <a:r>
              <a:rPr sz="800" b="1" dirty="0">
                <a:latin typeface="Arial"/>
                <a:cs typeface="Arial"/>
              </a:rPr>
              <a:t> not just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shortens:</a:t>
            </a:r>
            <a:endParaRPr sz="800" dirty="0">
              <a:latin typeface="Arial"/>
              <a:cs typeface="Arial"/>
            </a:endParaRPr>
          </a:p>
          <a:p>
            <a:pPr marL="380365" lvl="1" indent="-113030">
              <a:lnSpc>
                <a:spcPct val="100000"/>
              </a:lnSpc>
              <a:spcBef>
                <a:spcPts val="135"/>
              </a:spcBef>
              <a:buFont typeface="Cambria"/>
              <a:buChar char="◦"/>
              <a:tabLst>
                <a:tab pos="380365" algn="l"/>
              </a:tabLst>
            </a:pPr>
            <a:r>
              <a:rPr sz="700" dirty="0">
                <a:latin typeface="Tahoma"/>
                <a:cs typeface="Tahoma"/>
              </a:rPr>
              <a:t>Slow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105" dirty="0">
                <a:latin typeface="Tahoma"/>
                <a:cs typeface="Tahoma"/>
              </a:rPr>
              <a:t>/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cash-conserving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(CashHoarder,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RiskAverse,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Passive):</a:t>
            </a:r>
            <a:r>
              <a:rPr sz="700" spc="10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middling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204" dirty="0">
                <a:latin typeface="Cambria"/>
                <a:cs typeface="Cambria"/>
              </a:rPr>
              <a:t>→</a:t>
            </a:r>
            <a:r>
              <a:rPr sz="700" spc="75" dirty="0">
                <a:latin typeface="Cambria"/>
                <a:cs typeface="Cambria"/>
              </a:rPr>
              <a:t> </a:t>
            </a:r>
            <a:r>
              <a:rPr sz="700" dirty="0">
                <a:latin typeface="Tahoma"/>
                <a:cs typeface="Tahoma"/>
              </a:rPr>
              <a:t>top-</a:t>
            </a:r>
            <a:r>
              <a:rPr sz="700" spc="-10" dirty="0">
                <a:latin typeface="Tahoma"/>
                <a:cs typeface="Tahoma"/>
              </a:rPr>
              <a:t>tier.</a:t>
            </a:r>
            <a:r>
              <a:rPr sz="700" spc="-25" dirty="0">
                <a:latin typeface="Tahoma"/>
                <a:cs typeface="Tahoma"/>
              </a:rPr>
              <a:t>.</a:t>
            </a:r>
            <a:endParaRPr sz="700" dirty="0">
              <a:latin typeface="Tahoma"/>
              <a:cs typeface="Tahoma"/>
            </a:endParaRPr>
          </a:p>
          <a:p>
            <a:pPr marL="128270" indent="-115570">
              <a:lnSpc>
                <a:spcPct val="100000"/>
              </a:lnSpc>
              <a:spcBef>
                <a:spcPts val="204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dirty="0">
                <a:latin typeface="Tahoma"/>
                <a:cs typeface="Tahoma"/>
              </a:rPr>
              <a:t>Bad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strategies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perform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same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across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both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boards: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performance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is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function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strategy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and</a:t>
            </a:r>
            <a:r>
              <a:rPr sz="800" i="1" spc="1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board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type.</a:t>
            </a:r>
            <a:endParaRPr lang="en-US" sz="800" spc="-10" dirty="0">
              <a:latin typeface="Tahoma"/>
              <a:cs typeface="Tahoma"/>
            </a:endParaRPr>
          </a:p>
          <a:p>
            <a:pPr marL="128270" indent="-115570">
              <a:lnSpc>
                <a:spcPct val="100000"/>
              </a:lnSpc>
              <a:spcBef>
                <a:spcPts val="204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lang="en-US" sz="800" b="1" spc="-10" dirty="0">
                <a:latin typeface="Tahoma"/>
                <a:cs typeface="Tahoma"/>
              </a:rPr>
              <a:t>Takeaway: </a:t>
            </a:r>
            <a:r>
              <a:rPr lang="en-US" sz="800" spc="-10" dirty="0">
                <a:latin typeface="Tahoma"/>
                <a:cs typeface="Tahoma"/>
              </a:rPr>
              <a:t>we can use our method to determine if a strategy is truly good.</a:t>
            </a:r>
            <a:endParaRPr sz="8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Results:</a:t>
            </a:r>
            <a:r>
              <a:rPr spc="240" dirty="0"/>
              <a:t> </a:t>
            </a:r>
            <a:r>
              <a:rPr spc="-20" dirty="0"/>
              <a:t>generalization</a:t>
            </a:r>
            <a:r>
              <a:rPr spc="90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dirty="0"/>
              <a:t>2–8</a:t>
            </a:r>
            <a:r>
              <a:rPr spc="90" dirty="0"/>
              <a:t> </a:t>
            </a:r>
            <a:r>
              <a:rPr spc="-50" dirty="0"/>
              <a:t>players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695" y="415747"/>
            <a:ext cx="3882629" cy="19245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311" y="2404654"/>
            <a:ext cx="4769485" cy="728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635" marR="5080" indent="-115570">
              <a:lnSpc>
                <a:spcPts val="950"/>
              </a:lnSpc>
              <a:spcBef>
                <a:spcPts val="135"/>
              </a:spcBef>
              <a:buFont typeface="Lucida Sans Unicode"/>
              <a:buChar char="•"/>
              <a:tabLst>
                <a:tab pos="129539" algn="l"/>
              </a:tabLst>
            </a:pPr>
            <a:r>
              <a:rPr sz="800" b="1" spc="-35" dirty="0">
                <a:latin typeface="Arial"/>
                <a:cs typeface="Arial"/>
              </a:rPr>
              <a:t>Takeaway:</a:t>
            </a:r>
            <a:r>
              <a:rPr sz="800" b="1" spc="135" dirty="0">
                <a:latin typeface="Arial"/>
                <a:cs typeface="Arial"/>
              </a:rPr>
              <a:t> </a:t>
            </a:r>
            <a:r>
              <a:rPr sz="800" spc="-20" dirty="0">
                <a:latin typeface="Tahoma"/>
                <a:cs typeface="Tahoma"/>
              </a:rPr>
              <a:t>every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metric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except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i="1" spc="-20" dirty="0">
                <a:latin typeface="Arial"/>
                <a:cs typeface="Arial"/>
              </a:rPr>
              <a:t>fairness</a:t>
            </a:r>
            <a:r>
              <a:rPr sz="800" i="1" spc="5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generalises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from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training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(2p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120" dirty="0">
                <a:latin typeface="Tahoma"/>
                <a:cs typeface="Tahoma"/>
              </a:rPr>
              <a:t>/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3p)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to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every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count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from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2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to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8; 	</a:t>
            </a:r>
            <a:r>
              <a:rPr sz="800" spc="-10" dirty="0">
                <a:latin typeface="Tahoma"/>
                <a:cs typeface="Tahoma"/>
              </a:rPr>
              <a:t>fairness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strongly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20" dirty="0">
                <a:latin typeface="Arial"/>
                <a:cs typeface="Arial"/>
              </a:rPr>
              <a:t>dependent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on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the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number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of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players</a:t>
            </a:r>
            <a:r>
              <a:rPr sz="800" spc="-10" dirty="0">
                <a:latin typeface="Tahoma"/>
                <a:cs typeface="Tahoma"/>
              </a:rPr>
              <a:t>.</a:t>
            </a:r>
            <a:endParaRPr sz="800" dirty="0">
              <a:latin typeface="Tahoma"/>
              <a:cs typeface="Tahoma"/>
            </a:endParaRPr>
          </a:p>
          <a:p>
            <a:pPr marL="128270" indent="-115570">
              <a:lnSpc>
                <a:spcPct val="100000"/>
              </a:lnSpc>
              <a:spcBef>
                <a:spcPts val="190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b="1" spc="-20" dirty="0">
                <a:latin typeface="Arial"/>
                <a:cs typeface="Arial"/>
              </a:rPr>
              <a:t>Game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Length:</a:t>
            </a:r>
            <a:r>
              <a:rPr sz="800" b="1" spc="114" dirty="0">
                <a:latin typeface="Arial"/>
                <a:cs typeface="Arial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∼</a:t>
            </a:r>
            <a:r>
              <a:rPr sz="800" dirty="0">
                <a:latin typeface="Tahoma"/>
                <a:cs typeface="Tahoma"/>
              </a:rPr>
              <a:t>60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rounds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at </a:t>
            </a:r>
            <a:r>
              <a:rPr sz="800" spc="-20" dirty="0">
                <a:latin typeface="Tahoma"/>
                <a:cs typeface="Tahoma"/>
              </a:rPr>
              <a:t>every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count vs.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104</a:t>
            </a:r>
            <a:r>
              <a:rPr sz="800" spc="-160" dirty="0">
                <a:latin typeface="Tahoma"/>
                <a:cs typeface="Tahoma"/>
              </a:rPr>
              <a:t> </a:t>
            </a:r>
            <a:r>
              <a:rPr sz="800" spc="90" dirty="0">
                <a:latin typeface="Lucida Sans Unicode"/>
                <a:cs typeface="Lucida Sans Unicode"/>
              </a:rPr>
              <a:t>→</a:t>
            </a:r>
            <a:r>
              <a:rPr sz="800" spc="-160" dirty="0">
                <a:latin typeface="Lucida Sans Unicode"/>
                <a:cs typeface="Lucida Sans Unicode"/>
              </a:rPr>
              <a:t> </a:t>
            </a:r>
            <a:r>
              <a:rPr sz="800" dirty="0">
                <a:latin typeface="Tahoma"/>
                <a:cs typeface="Tahoma"/>
              </a:rPr>
              <a:t>158 for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</a:t>
            </a:r>
            <a:r>
              <a:rPr sz="800" spc="-10" dirty="0">
                <a:latin typeface="Tahoma"/>
                <a:cs typeface="Tahoma"/>
              </a:rPr>
              <a:t>default.</a:t>
            </a:r>
            <a:endParaRPr sz="800" dirty="0">
              <a:latin typeface="Tahoma"/>
              <a:cs typeface="Tahoma"/>
            </a:endParaRPr>
          </a:p>
          <a:p>
            <a:pPr marL="128270" indent="-115570">
              <a:lnSpc>
                <a:spcPct val="100000"/>
              </a:lnSpc>
              <a:spcBef>
                <a:spcPts val="225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b="1" spc="-45" dirty="0">
                <a:latin typeface="Arial"/>
                <a:cs typeface="Arial"/>
              </a:rPr>
              <a:t>Decisiveness:</a:t>
            </a:r>
            <a:r>
              <a:rPr sz="800" b="1" spc="10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optimised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boards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finish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≥</a:t>
            </a:r>
            <a:r>
              <a:rPr sz="800" spc="-50" dirty="0">
                <a:latin typeface="Lucida Sans Unicode"/>
                <a:cs typeface="Lucida Sans Unicode"/>
              </a:rPr>
              <a:t> </a:t>
            </a:r>
            <a:r>
              <a:rPr sz="800" spc="-20" dirty="0">
                <a:latin typeface="Tahoma"/>
                <a:cs typeface="Tahoma"/>
              </a:rPr>
              <a:t>78%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games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8p;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default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finishes </a:t>
            </a:r>
            <a:r>
              <a:rPr sz="800" dirty="0">
                <a:latin typeface="Tahoma"/>
                <a:cs typeface="Tahoma"/>
              </a:rPr>
              <a:t>only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Arial"/>
                <a:cs typeface="Arial"/>
              </a:rPr>
              <a:t>29</a:t>
            </a:r>
            <a:r>
              <a:rPr sz="800" spc="-20" dirty="0">
                <a:latin typeface="Tahoma"/>
                <a:cs typeface="Tahoma"/>
              </a:rPr>
              <a:t>%.</a:t>
            </a:r>
            <a:endParaRPr sz="800" dirty="0">
              <a:latin typeface="Tahoma"/>
              <a:cs typeface="Tahoma"/>
            </a:endParaRPr>
          </a:p>
          <a:p>
            <a:pPr marL="127635" marR="541020" indent="-115570">
              <a:lnSpc>
                <a:spcPts val="950"/>
              </a:lnSpc>
              <a:spcBef>
                <a:spcPts val="265"/>
              </a:spcBef>
              <a:buFont typeface="Lucida Sans Unicode"/>
              <a:buChar char="•"/>
              <a:tabLst>
                <a:tab pos="129539" algn="l"/>
              </a:tabLst>
            </a:pPr>
            <a:r>
              <a:rPr sz="800" b="1" spc="-40" dirty="0">
                <a:latin typeface="Arial"/>
                <a:cs typeface="Arial"/>
              </a:rPr>
              <a:t>Fairness:</a:t>
            </a:r>
            <a:r>
              <a:rPr sz="800" b="1" spc="120" dirty="0">
                <a:latin typeface="Arial"/>
                <a:cs typeface="Arial"/>
              </a:rPr>
              <a:t> </a:t>
            </a:r>
            <a:r>
              <a:rPr sz="800" spc="-10" dirty="0">
                <a:latin typeface="Tahoma"/>
                <a:cs typeface="Tahoma"/>
              </a:rPr>
              <a:t>winners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are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35" dirty="0">
                <a:latin typeface="Tahoma"/>
                <a:cs typeface="Tahoma"/>
              </a:rPr>
              <a:t>30–</a:t>
            </a:r>
            <a:r>
              <a:rPr sz="800" spc="-10" dirty="0">
                <a:latin typeface="Tahoma"/>
                <a:cs typeface="Tahoma"/>
              </a:rPr>
              <a:t>53%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fairer</a:t>
            </a:r>
            <a:r>
              <a:rPr sz="800" i="1" spc="4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than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default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at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2p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120" dirty="0">
                <a:latin typeface="Tahoma"/>
                <a:cs typeface="Tahoma"/>
              </a:rPr>
              <a:t>/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3p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but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69–</a:t>
            </a:r>
            <a:r>
              <a:rPr sz="800" spc="-20" dirty="0">
                <a:latin typeface="Tahoma"/>
                <a:cs typeface="Tahoma"/>
              </a:rPr>
              <a:t>101%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i="1" spc="-30" dirty="0">
                <a:latin typeface="Arial"/>
                <a:cs typeface="Arial"/>
              </a:rPr>
              <a:t>less</a:t>
            </a:r>
            <a:r>
              <a:rPr sz="800" i="1" spc="3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fair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at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7–</a:t>
            </a:r>
            <a:r>
              <a:rPr sz="800" spc="-25" dirty="0">
                <a:latin typeface="Tahoma"/>
                <a:cs typeface="Tahoma"/>
              </a:rPr>
              <a:t>8p </a:t>
            </a:r>
            <a:endParaRPr sz="8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311" y="970597"/>
            <a:ext cx="4898390" cy="1080296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550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b="1" dirty="0">
                <a:latin typeface="Arial"/>
                <a:cs typeface="Arial"/>
              </a:rPr>
              <a:t>Human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playtest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(</a:t>
            </a:r>
            <a:r>
              <a:rPr sz="800" i="1" dirty="0">
                <a:latin typeface="Arial"/>
                <a:cs typeface="Arial"/>
              </a:rPr>
              <a:t>N</a:t>
            </a:r>
            <a:r>
              <a:rPr sz="800" dirty="0">
                <a:latin typeface="Tahoma"/>
                <a:cs typeface="Tahoma"/>
              </a:rPr>
              <a:t>=10</a:t>
            </a:r>
            <a:r>
              <a:rPr sz="800" b="1" dirty="0">
                <a:latin typeface="Arial"/>
                <a:cs typeface="Arial"/>
              </a:rPr>
              <a:t>,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two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players)</a:t>
            </a:r>
            <a:r>
              <a:rPr sz="800" b="1" spc="5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clears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the</a:t>
            </a:r>
            <a:r>
              <a:rPr sz="800" b="1" spc="55" dirty="0">
                <a:latin typeface="Arial"/>
                <a:cs typeface="Arial"/>
              </a:rPr>
              <a:t> </a:t>
            </a:r>
            <a:r>
              <a:rPr sz="800" b="1" spc="-75" dirty="0">
                <a:latin typeface="Arial"/>
                <a:cs typeface="Arial"/>
              </a:rPr>
              <a:t>success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bar</a:t>
            </a:r>
            <a:endParaRPr sz="800" dirty="0">
              <a:latin typeface="Arial"/>
              <a:cs typeface="Arial"/>
            </a:endParaRPr>
          </a:p>
          <a:p>
            <a:pPr marL="127635" marR="5080" indent="-115570">
              <a:lnSpc>
                <a:spcPts val="950"/>
              </a:lnSpc>
              <a:spcBef>
                <a:spcPts val="495"/>
              </a:spcBef>
              <a:buFont typeface="Lucida Sans Unicode"/>
              <a:buChar char="•"/>
              <a:tabLst>
                <a:tab pos="129539" algn="l"/>
              </a:tabLst>
            </a:pPr>
            <a:r>
              <a:rPr lang="en-US" sz="800" b="1" spc="-10" dirty="0">
                <a:latin typeface="Arial"/>
                <a:cs typeface="Arial"/>
              </a:rPr>
              <a:t>Pool</a:t>
            </a:r>
            <a:r>
              <a:rPr lang="en-US" sz="800" b="1" spc="35" dirty="0">
                <a:latin typeface="Arial"/>
                <a:cs typeface="Arial"/>
              </a:rPr>
              <a:t> </a:t>
            </a:r>
            <a:r>
              <a:rPr lang="en-US" sz="800" spc="70" dirty="0">
                <a:latin typeface="Tahoma"/>
                <a:cs typeface="Tahoma"/>
              </a:rPr>
              <a:t>+</a:t>
            </a:r>
            <a:r>
              <a:rPr lang="en-US" sz="800" spc="10" dirty="0">
                <a:latin typeface="Tahoma"/>
                <a:cs typeface="Tahoma"/>
              </a:rPr>
              <a:t> </a:t>
            </a:r>
            <a:r>
              <a:rPr lang="en-US" sz="800" b="1" dirty="0">
                <a:latin typeface="Arial"/>
                <a:cs typeface="Arial"/>
              </a:rPr>
              <a:t>LLM</a:t>
            </a:r>
            <a:r>
              <a:rPr lang="en-US" sz="800" b="1" spc="40" dirty="0">
                <a:latin typeface="Arial"/>
                <a:cs typeface="Arial"/>
              </a:rPr>
              <a:t> </a:t>
            </a:r>
            <a:r>
              <a:rPr lang="en-US" sz="800" b="1" spc="-35" dirty="0">
                <a:latin typeface="Arial"/>
                <a:cs typeface="Arial"/>
              </a:rPr>
              <a:t>evaluators</a:t>
            </a:r>
            <a:r>
              <a:rPr lang="en-US" sz="800" b="1" spc="35" dirty="0">
                <a:latin typeface="Arial"/>
                <a:cs typeface="Arial"/>
              </a:rPr>
              <a:t> </a:t>
            </a:r>
            <a:r>
              <a:rPr lang="en-US" sz="800" b="1" spc="-25" dirty="0">
                <a:latin typeface="Arial"/>
                <a:cs typeface="Arial"/>
              </a:rPr>
              <a:t>agree</a:t>
            </a:r>
            <a:r>
              <a:rPr lang="en-US" sz="800" b="1" spc="40" dirty="0">
                <a:latin typeface="Arial"/>
                <a:cs typeface="Arial"/>
              </a:rPr>
              <a:t> </a:t>
            </a:r>
            <a:r>
              <a:rPr lang="en-US" sz="800" b="1" dirty="0">
                <a:latin typeface="Arial"/>
                <a:cs typeface="Arial"/>
              </a:rPr>
              <a:t>on</a:t>
            </a:r>
            <a:r>
              <a:rPr lang="en-US" sz="800" b="1" spc="35" dirty="0">
                <a:latin typeface="Arial"/>
                <a:cs typeface="Arial"/>
              </a:rPr>
              <a:t> </a:t>
            </a:r>
            <a:r>
              <a:rPr lang="en-US" sz="800" b="1" dirty="0">
                <a:latin typeface="Arial"/>
                <a:cs typeface="Arial"/>
              </a:rPr>
              <a:t>the</a:t>
            </a:r>
            <a:r>
              <a:rPr lang="en-US" sz="800" b="1" spc="35" dirty="0">
                <a:latin typeface="Arial"/>
                <a:cs typeface="Arial"/>
              </a:rPr>
              <a:t> </a:t>
            </a:r>
            <a:r>
              <a:rPr lang="en-US" sz="800" b="1" spc="-40" dirty="0">
                <a:latin typeface="Arial"/>
                <a:cs typeface="Arial"/>
              </a:rPr>
              <a:t>rule-</a:t>
            </a:r>
            <a:r>
              <a:rPr lang="en-US" sz="800" b="1" spc="-30" dirty="0">
                <a:latin typeface="Arial"/>
                <a:cs typeface="Arial"/>
              </a:rPr>
              <a:t>based</a:t>
            </a:r>
            <a:r>
              <a:rPr lang="en-US" sz="800" b="1" spc="40" dirty="0">
                <a:latin typeface="Arial"/>
                <a:cs typeface="Arial"/>
              </a:rPr>
              <a:t> </a:t>
            </a:r>
            <a:r>
              <a:rPr lang="en-US" sz="800" b="1" dirty="0">
                <a:latin typeface="Arial"/>
                <a:cs typeface="Arial"/>
              </a:rPr>
              <a:t>GA</a:t>
            </a:r>
            <a:r>
              <a:rPr lang="en-US" sz="800" b="1" spc="35" dirty="0">
                <a:latin typeface="Arial"/>
                <a:cs typeface="Arial"/>
              </a:rPr>
              <a:t> </a:t>
            </a:r>
            <a:r>
              <a:rPr lang="en-US" sz="800" b="1" spc="-10" dirty="0">
                <a:latin typeface="Arial"/>
                <a:cs typeface="Arial"/>
              </a:rPr>
              <a:t>winner.</a:t>
            </a:r>
            <a:endParaRPr lang="en-US" sz="800" dirty="0">
              <a:latin typeface="Arial"/>
              <a:cs typeface="Arial"/>
            </a:endParaRPr>
          </a:p>
          <a:p>
            <a:pPr marL="127635" marR="5080" indent="-115570">
              <a:lnSpc>
                <a:spcPts val="950"/>
              </a:lnSpc>
              <a:spcBef>
                <a:spcPts val="495"/>
              </a:spcBef>
              <a:buFont typeface="Lucida Sans Unicode"/>
              <a:buChar char="•"/>
              <a:tabLst>
                <a:tab pos="129539" algn="l"/>
              </a:tabLst>
            </a:pPr>
            <a:r>
              <a:rPr sz="800" dirty="0">
                <a:latin typeface="Tahoma"/>
                <a:cs typeface="Tahoma"/>
              </a:rPr>
              <a:t>Optimi</a:t>
            </a:r>
            <a:r>
              <a:rPr lang="en-US" sz="800" dirty="0">
                <a:latin typeface="Tahoma"/>
                <a:cs typeface="Tahoma"/>
              </a:rPr>
              <a:t>z</a:t>
            </a:r>
            <a:r>
              <a:rPr sz="800" dirty="0">
                <a:latin typeface="Tahoma"/>
                <a:cs typeface="Tahoma"/>
              </a:rPr>
              <a:t>ed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boards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play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10" dirty="0">
                <a:latin typeface="Lucida Sans Unicode"/>
                <a:cs typeface="Lucida Sans Unicode"/>
              </a:rPr>
              <a:t>∼</a:t>
            </a:r>
            <a:r>
              <a:rPr sz="800" b="1" spc="-10" dirty="0">
                <a:latin typeface="Arial"/>
                <a:cs typeface="Arial"/>
              </a:rPr>
              <a:t>2–</a:t>
            </a:r>
            <a:r>
              <a:rPr sz="800" b="1" dirty="0">
                <a:latin typeface="Arial"/>
                <a:cs typeface="Arial"/>
              </a:rPr>
              <a:t>3</a:t>
            </a:r>
            <a:r>
              <a:rPr sz="800" dirty="0">
                <a:latin typeface="Lucida Sans Unicode"/>
                <a:cs typeface="Lucida Sans Unicode"/>
              </a:rPr>
              <a:t>×</a:t>
            </a:r>
            <a:r>
              <a:rPr sz="800" spc="15" dirty="0">
                <a:latin typeface="Lucida Sans Unicode"/>
                <a:cs typeface="Lucida Sans Unicode"/>
              </a:rPr>
              <a:t> </a:t>
            </a:r>
            <a:r>
              <a:rPr sz="800" b="1" spc="-20" dirty="0">
                <a:latin typeface="Arial"/>
                <a:cs typeface="Arial"/>
              </a:rPr>
              <a:t>faster</a:t>
            </a:r>
            <a:r>
              <a:rPr sz="800" spc="-20" dirty="0">
                <a:latin typeface="Tahoma"/>
                <a:cs typeface="Tahoma"/>
              </a:rPr>
              <a:t>,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finish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reliably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at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Arial"/>
                <a:cs typeface="Arial"/>
              </a:rPr>
              <a:t>2–</a:t>
            </a:r>
            <a:r>
              <a:rPr sz="800" b="1" dirty="0">
                <a:latin typeface="Arial"/>
                <a:cs typeface="Arial"/>
              </a:rPr>
              <a:t>8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players</a:t>
            </a:r>
            <a:endParaRPr lang="en-US" sz="800" b="1" spc="-45" dirty="0">
              <a:latin typeface="Arial"/>
              <a:cs typeface="Arial"/>
            </a:endParaRPr>
          </a:p>
          <a:p>
            <a:pPr marL="127635" marR="5080" indent="-115570">
              <a:lnSpc>
                <a:spcPts val="950"/>
              </a:lnSpc>
              <a:spcBef>
                <a:spcPts val="495"/>
              </a:spcBef>
              <a:buFont typeface="Lucida Sans Unicode"/>
              <a:buChar char="•"/>
              <a:tabLst>
                <a:tab pos="129539" algn="l"/>
              </a:tabLst>
            </a:pPr>
            <a:r>
              <a:rPr lang="en-US" sz="800" spc="-45" dirty="0">
                <a:latin typeface="Arial"/>
                <a:cs typeface="Arial"/>
              </a:rPr>
              <a:t>We can use our framework to analyze game board characteristics and </a:t>
            </a:r>
            <a:r>
              <a:rPr lang="en-US" sz="800" spc="-45">
                <a:latin typeface="Arial"/>
                <a:cs typeface="Arial"/>
              </a:rPr>
              <a:t>player behavior</a:t>
            </a:r>
            <a:endParaRPr lang="en-US" sz="800" spc="-45" dirty="0">
              <a:latin typeface="Tahoma"/>
              <a:cs typeface="Tahoma"/>
            </a:endParaRPr>
          </a:p>
          <a:p>
            <a:pPr marL="127635" marR="83820" indent="-115570">
              <a:lnSpc>
                <a:spcPts val="950"/>
              </a:lnSpc>
              <a:spcBef>
                <a:spcPts val="459"/>
              </a:spcBef>
              <a:buFont typeface="Lucida Sans Unicode"/>
              <a:buChar char="•"/>
              <a:tabLst>
                <a:tab pos="129539" algn="l"/>
              </a:tabLst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recipe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transfers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to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any</a:t>
            </a:r>
            <a:r>
              <a:rPr lang="en-US" sz="800" spc="-2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parameterized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multi-agent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system: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market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mechanisms, </a:t>
            </a:r>
            <a:r>
              <a:rPr sz="800" spc="50" dirty="0">
                <a:latin typeface="Tahoma"/>
                <a:cs typeface="Tahoma"/>
              </a:rPr>
              <a:t>RL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environments,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recommendation systems.</a:t>
            </a:r>
            <a:endParaRPr sz="8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6322B7-0B0E-0969-E8CC-CA5A65E20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26BB753-F119-55B6-0EA3-3C69C8517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Game-</a:t>
            </a:r>
            <a:r>
              <a:rPr spc="-10" dirty="0"/>
              <a:t>design</a:t>
            </a:r>
            <a:r>
              <a:rPr dirty="0"/>
              <a:t> </a:t>
            </a:r>
            <a:r>
              <a:rPr spc="-50" dirty="0"/>
              <a:t>insights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874D486-1F74-CC5F-AA04-2587F4F85E51}"/>
              </a:ext>
            </a:extLst>
          </p:cNvPr>
          <p:cNvSpPr txBox="1"/>
          <p:nvPr/>
        </p:nvSpPr>
        <p:spPr>
          <a:xfrm>
            <a:off x="483311" y="437812"/>
            <a:ext cx="4886325" cy="102451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305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b="1" spc="-20" dirty="0">
                <a:latin typeface="Arial"/>
                <a:cs typeface="Arial"/>
              </a:rPr>
              <a:t>Game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length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(</a:t>
            </a:r>
            <a:r>
              <a:rPr sz="800" dirty="0">
                <a:latin typeface="Lucida Sans Unicode"/>
                <a:cs typeface="Lucida Sans Unicode"/>
              </a:rPr>
              <a:t>∼</a:t>
            </a:r>
            <a:r>
              <a:rPr sz="800" dirty="0">
                <a:latin typeface="Tahoma"/>
                <a:cs typeface="Tahoma"/>
              </a:rPr>
              <a:t>60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vs.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∼</a:t>
            </a:r>
            <a:r>
              <a:rPr sz="800" dirty="0">
                <a:latin typeface="Tahoma"/>
                <a:cs typeface="Tahoma"/>
              </a:rPr>
              <a:t>100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rounds):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12-</a:t>
            </a:r>
            <a:r>
              <a:rPr sz="800" dirty="0">
                <a:latin typeface="Tahoma"/>
                <a:cs typeface="Tahoma"/>
              </a:rPr>
              <a:t>cell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lap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leaves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fewer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turns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between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rent</a:t>
            </a:r>
            <a:r>
              <a:rPr sz="800" spc="-10" dirty="0">
                <a:latin typeface="Tahoma"/>
                <a:cs typeface="Tahoma"/>
              </a:rPr>
              <a:t> events.</a:t>
            </a:r>
            <a:endParaRPr sz="800" dirty="0">
              <a:latin typeface="Tahoma"/>
              <a:cs typeface="Tahoma"/>
            </a:endParaRPr>
          </a:p>
          <a:p>
            <a:pPr marL="127635" marR="83820" indent="-115570">
              <a:lnSpc>
                <a:spcPts val="950"/>
              </a:lnSpc>
              <a:spcBef>
                <a:spcPts val="320"/>
              </a:spcBef>
              <a:buFont typeface="Lucida Sans Unicode"/>
              <a:buChar char="•"/>
              <a:tabLst>
                <a:tab pos="129539" algn="l"/>
              </a:tabLst>
            </a:pPr>
            <a:r>
              <a:rPr sz="800" b="1" spc="-50" dirty="0">
                <a:latin typeface="Arial"/>
                <a:cs typeface="Arial"/>
              </a:rPr>
              <a:t>Decisiveness</a:t>
            </a:r>
            <a:r>
              <a:rPr sz="800" b="1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(draw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rate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55" dirty="0">
                <a:latin typeface="Tahoma"/>
                <a:cs typeface="Tahoma"/>
              </a:rPr>
              <a:t>7%</a:t>
            </a:r>
            <a:r>
              <a:rPr sz="800" spc="-160" dirty="0">
                <a:latin typeface="Tahoma"/>
                <a:cs typeface="Tahoma"/>
              </a:rPr>
              <a:t> </a:t>
            </a:r>
            <a:r>
              <a:rPr sz="800" spc="90" dirty="0">
                <a:latin typeface="Lucida Sans Unicode"/>
                <a:cs typeface="Lucida Sans Unicode"/>
              </a:rPr>
              <a:t>→</a:t>
            </a:r>
            <a:r>
              <a:rPr sz="800" spc="-160" dirty="0">
                <a:latin typeface="Lucida Sans Unicode"/>
                <a:cs typeface="Lucida Sans Unicode"/>
              </a:rPr>
              <a:t> </a:t>
            </a:r>
            <a:r>
              <a:rPr sz="800" spc="-10" dirty="0">
                <a:latin typeface="Tahoma"/>
                <a:cs typeface="Tahoma"/>
              </a:rPr>
              <a:t>2%):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∼</a:t>
            </a:r>
            <a:r>
              <a:rPr sz="800" dirty="0">
                <a:latin typeface="Tahoma"/>
                <a:cs typeface="Tahoma"/>
              </a:rPr>
              <a:t>1</a:t>
            </a:r>
            <a:r>
              <a:rPr sz="800" i="1" dirty="0">
                <a:latin typeface="Sitka Text"/>
                <a:cs typeface="Sitka Text"/>
              </a:rPr>
              <a:t>.</a:t>
            </a:r>
            <a:r>
              <a:rPr sz="800" dirty="0">
                <a:latin typeface="Tahoma"/>
                <a:cs typeface="Tahoma"/>
              </a:rPr>
              <a:t>6</a:t>
            </a:r>
            <a:r>
              <a:rPr sz="800" dirty="0">
                <a:latin typeface="Lucida Sans Unicode"/>
                <a:cs typeface="Lucida Sans Unicode"/>
              </a:rPr>
              <a:t>×</a:t>
            </a:r>
            <a:r>
              <a:rPr sz="800" spc="-10" dirty="0">
                <a:latin typeface="Lucida Sans Unicode"/>
                <a:cs typeface="Lucida Sans Unicode"/>
              </a:rPr>
              <a:t> </a:t>
            </a:r>
            <a:r>
              <a:rPr sz="800" spc="-10" dirty="0">
                <a:latin typeface="Tahoma"/>
                <a:cs typeface="Tahoma"/>
              </a:rPr>
              <a:t>base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cost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∼</a:t>
            </a:r>
            <a:r>
              <a:rPr sz="800" dirty="0">
                <a:latin typeface="Tahoma"/>
                <a:cs typeface="Tahoma"/>
              </a:rPr>
              <a:t>1</a:t>
            </a:r>
            <a:r>
              <a:rPr sz="800" i="1" dirty="0">
                <a:latin typeface="Sitka Text"/>
                <a:cs typeface="Sitka Text"/>
              </a:rPr>
              <a:t>.</a:t>
            </a:r>
            <a:r>
              <a:rPr sz="800" dirty="0">
                <a:latin typeface="Tahoma"/>
                <a:cs typeface="Tahoma"/>
              </a:rPr>
              <a:t>3</a:t>
            </a:r>
            <a:r>
              <a:rPr sz="800" dirty="0">
                <a:latin typeface="Lucida Sans Unicode"/>
                <a:cs typeface="Lucida Sans Unicode"/>
              </a:rPr>
              <a:t>×</a:t>
            </a:r>
            <a:r>
              <a:rPr sz="800" spc="-10" dirty="0">
                <a:latin typeface="Lucida Sans Unicode"/>
                <a:cs typeface="Lucida Sans Unicode"/>
              </a:rPr>
              <a:t> </a:t>
            </a:r>
            <a:r>
              <a:rPr sz="800" spc="-10" dirty="0">
                <a:latin typeface="Tahoma"/>
                <a:cs typeface="Tahoma"/>
              </a:rPr>
              <a:t>base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rent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force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bankruptcy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before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the 	</a:t>
            </a:r>
            <a:r>
              <a:rPr sz="800" dirty="0">
                <a:latin typeface="Tahoma"/>
                <a:cs typeface="Tahoma"/>
              </a:rPr>
              <a:t>turn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cap.</a:t>
            </a:r>
            <a:endParaRPr sz="800" dirty="0">
              <a:latin typeface="Tahoma"/>
              <a:cs typeface="Tahoma"/>
            </a:endParaRPr>
          </a:p>
          <a:p>
            <a:pPr marL="128270" indent="-115570">
              <a:lnSpc>
                <a:spcPct val="100000"/>
              </a:lnSpc>
              <a:spcBef>
                <a:spcPts val="250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b="1" dirty="0">
                <a:latin typeface="Arial"/>
                <a:cs typeface="Arial"/>
              </a:rPr>
              <a:t>Money</a:t>
            </a:r>
            <a:r>
              <a:rPr sz="800" b="1" spc="-5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circulation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(</a:t>
            </a:r>
            <a:r>
              <a:rPr sz="800" dirty="0">
                <a:latin typeface="Times New Roman"/>
                <a:cs typeface="Times New Roman"/>
              </a:rPr>
              <a:t>g</a:t>
            </a:r>
            <a:r>
              <a:rPr sz="800" dirty="0">
                <a:latin typeface="Tahoma"/>
                <a:cs typeface="Tahoma"/>
              </a:rPr>
              <a:t>50</a:t>
            </a:r>
            <a:r>
              <a:rPr sz="800" spc="-160" dirty="0">
                <a:latin typeface="Tahoma"/>
                <a:cs typeface="Tahoma"/>
              </a:rPr>
              <a:t> </a:t>
            </a:r>
            <a:r>
              <a:rPr sz="800" dirty="0">
                <a:latin typeface="Lucida Sans Unicode"/>
                <a:cs typeface="Lucida Sans Unicode"/>
              </a:rPr>
              <a:t>→</a:t>
            </a:r>
            <a:r>
              <a:rPr sz="800" dirty="0">
                <a:latin typeface="Times New Roman"/>
                <a:cs typeface="Times New Roman"/>
              </a:rPr>
              <a:t>g</a:t>
            </a:r>
            <a:r>
              <a:rPr sz="800" dirty="0">
                <a:latin typeface="Tahoma"/>
                <a:cs typeface="Tahoma"/>
              </a:rPr>
              <a:t>73/round):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higher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base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rent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cells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landed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more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often.</a:t>
            </a:r>
            <a:endParaRPr sz="800" dirty="0">
              <a:latin typeface="Tahoma"/>
              <a:cs typeface="Tahoma"/>
            </a:endParaRPr>
          </a:p>
          <a:p>
            <a:pPr marL="128270" indent="-115570">
              <a:lnSpc>
                <a:spcPts val="955"/>
              </a:lnSpc>
              <a:spcBef>
                <a:spcPts val="284"/>
              </a:spcBef>
              <a:buFont typeface="Lucida Sans Unicode"/>
              <a:buChar char="•"/>
              <a:tabLst>
                <a:tab pos="128270" algn="l"/>
              </a:tabLst>
            </a:pPr>
            <a:r>
              <a:rPr sz="800" b="1" spc="-50" dirty="0">
                <a:latin typeface="Arial"/>
                <a:cs typeface="Arial"/>
              </a:rPr>
              <a:t>Fairness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at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2p/3p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spc="-10" dirty="0">
                <a:latin typeface="Tahoma"/>
                <a:cs typeface="Tahoma"/>
              </a:rPr>
              <a:t>(spread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0</a:t>
            </a:r>
            <a:r>
              <a:rPr sz="800" i="1" spc="-20" dirty="0">
                <a:latin typeface="Sitka Text"/>
                <a:cs typeface="Sitka Text"/>
              </a:rPr>
              <a:t>.</a:t>
            </a:r>
            <a:r>
              <a:rPr sz="800" spc="-20" dirty="0">
                <a:latin typeface="Tahoma"/>
                <a:cs typeface="Tahoma"/>
              </a:rPr>
              <a:t>45</a:t>
            </a:r>
            <a:r>
              <a:rPr sz="800" spc="-160" dirty="0">
                <a:latin typeface="Tahoma"/>
                <a:cs typeface="Tahoma"/>
              </a:rPr>
              <a:t> </a:t>
            </a:r>
            <a:r>
              <a:rPr sz="800" spc="90" dirty="0">
                <a:latin typeface="Lucida Sans Unicode"/>
                <a:cs typeface="Lucida Sans Unicode"/>
              </a:rPr>
              <a:t>→</a:t>
            </a:r>
            <a:r>
              <a:rPr sz="800" spc="-160" dirty="0">
                <a:latin typeface="Lucida Sans Unicode"/>
                <a:cs typeface="Lucida Sans Unicode"/>
              </a:rPr>
              <a:t> </a:t>
            </a:r>
            <a:r>
              <a:rPr sz="800" spc="-10" dirty="0">
                <a:latin typeface="Tahoma"/>
                <a:cs typeface="Tahoma"/>
              </a:rPr>
              <a:t>0</a:t>
            </a:r>
            <a:r>
              <a:rPr sz="800" i="1" spc="-10" dirty="0">
                <a:latin typeface="Sitka Text"/>
                <a:cs typeface="Sitka Text"/>
              </a:rPr>
              <a:t>.</a:t>
            </a:r>
            <a:r>
              <a:rPr sz="800" spc="-10" dirty="0">
                <a:latin typeface="Tahoma"/>
                <a:cs typeface="Tahoma"/>
              </a:rPr>
              <a:t>22;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Lucida Sans Unicode"/>
                <a:cs typeface="Lucida Sans Unicode"/>
              </a:rPr>
              <a:t>−</a:t>
            </a:r>
            <a:r>
              <a:rPr sz="800" spc="-10" dirty="0">
                <a:latin typeface="Tahoma"/>
                <a:cs typeface="Tahoma"/>
              </a:rPr>
              <a:t>32%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at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3p):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Yellow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dropped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most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groups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shrunk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to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1–</a:t>
            </a:r>
            <a:r>
              <a:rPr sz="800" dirty="0">
                <a:latin typeface="Tahoma"/>
                <a:cs typeface="Tahoma"/>
              </a:rPr>
              <a:t>2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cells</a:t>
            </a:r>
            <a:endParaRPr sz="800" dirty="0">
              <a:latin typeface="Tahoma"/>
              <a:cs typeface="Tahoma"/>
            </a:endParaRPr>
          </a:p>
          <a:p>
            <a:pPr marL="129539" marR="344805">
              <a:lnSpc>
                <a:spcPts val="950"/>
              </a:lnSpc>
              <a:spcBef>
                <a:spcPts val="30"/>
              </a:spcBef>
            </a:pP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per-</a:t>
            </a:r>
            <a:r>
              <a:rPr sz="800" dirty="0">
                <a:latin typeface="Tahoma"/>
                <a:cs typeface="Tahoma"/>
              </a:rPr>
              <a:t>property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rent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multipliers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spread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Lucida Sans Unicode"/>
                <a:cs typeface="Lucida Sans Unicode"/>
              </a:rPr>
              <a:t>∼</a:t>
            </a:r>
            <a:r>
              <a:rPr sz="800" spc="-10" dirty="0">
                <a:latin typeface="Tahoma"/>
                <a:cs typeface="Tahoma"/>
              </a:rPr>
              <a:t>0</a:t>
            </a:r>
            <a:r>
              <a:rPr sz="800" i="1" spc="-10" dirty="0">
                <a:latin typeface="Sitka Text"/>
                <a:cs typeface="Sitka Text"/>
              </a:rPr>
              <a:t>.</a:t>
            </a:r>
            <a:r>
              <a:rPr sz="800" spc="-10" dirty="0">
                <a:latin typeface="Tahoma"/>
                <a:cs typeface="Tahoma"/>
              </a:rPr>
              <a:t>6</a:t>
            </a:r>
            <a:r>
              <a:rPr sz="800" spc="-10" dirty="0">
                <a:latin typeface="Lucida Sans Unicode"/>
                <a:cs typeface="Lucida Sans Unicode"/>
              </a:rPr>
              <a:t>×</a:t>
            </a:r>
            <a:r>
              <a:rPr sz="800" spc="-10" dirty="0">
                <a:latin typeface="Tahoma"/>
                <a:cs typeface="Tahoma"/>
              </a:rPr>
              <a:t>–</a:t>
            </a:r>
            <a:r>
              <a:rPr sz="800" dirty="0">
                <a:latin typeface="Tahoma"/>
                <a:cs typeface="Tahoma"/>
              </a:rPr>
              <a:t>1</a:t>
            </a:r>
            <a:r>
              <a:rPr sz="800" i="1" dirty="0">
                <a:latin typeface="Sitka Text"/>
                <a:cs typeface="Sitka Text"/>
              </a:rPr>
              <a:t>.</a:t>
            </a:r>
            <a:r>
              <a:rPr sz="800" dirty="0">
                <a:latin typeface="Tahoma"/>
                <a:cs typeface="Tahoma"/>
              </a:rPr>
              <a:t>9</a:t>
            </a:r>
            <a:r>
              <a:rPr sz="800" dirty="0">
                <a:latin typeface="Lucida Sans Unicode"/>
                <a:cs typeface="Lucida Sans Unicode"/>
              </a:rPr>
              <a:t>×</a:t>
            </a:r>
            <a:r>
              <a:rPr sz="800" spc="-10" dirty="0">
                <a:latin typeface="Lucida Sans Unicode"/>
                <a:cs typeface="Lucida Sans Unicode"/>
              </a:rPr>
              <a:t> </a:t>
            </a:r>
            <a:r>
              <a:rPr sz="800" dirty="0">
                <a:latin typeface="Tahoma"/>
                <a:cs typeface="Tahoma"/>
              </a:rPr>
              <a:t>damp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over-</a:t>
            </a:r>
            <a:r>
              <a:rPr sz="800" spc="-25" dirty="0">
                <a:latin typeface="Tahoma"/>
                <a:cs typeface="Tahoma"/>
              </a:rPr>
              <a:t>powered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cells,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same</a:t>
            </a:r>
            <a:r>
              <a:rPr sz="800" dirty="0">
                <a:latin typeface="Tahoma"/>
                <a:cs typeface="Tahoma"/>
              </a:rPr>
              <a:t> recipe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the </a:t>
            </a:r>
            <a:r>
              <a:rPr sz="800" spc="-20" dirty="0">
                <a:latin typeface="Tahoma"/>
                <a:cs typeface="Tahoma"/>
              </a:rPr>
              <a:t>fairness-</a:t>
            </a:r>
            <a:r>
              <a:rPr sz="800" dirty="0">
                <a:latin typeface="Tahoma"/>
                <a:cs typeface="Tahoma"/>
              </a:rPr>
              <a:t>only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ablation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finds.</a:t>
            </a:r>
            <a:endParaRPr sz="8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93526125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994</Words>
  <Application>Microsoft Office PowerPoint</Application>
  <PresentationFormat>Custom</PresentationFormat>
  <Paragraphs>158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Cambria</vt:lpstr>
      <vt:lpstr>Lucida Sans Unicode</vt:lpstr>
      <vt:lpstr>Sitka Text</vt:lpstr>
      <vt:lpstr>Tahoma</vt:lpstr>
      <vt:lpstr>Times New Roman</vt:lpstr>
      <vt:lpstr>Trebuchet MS</vt:lpstr>
      <vt:lpstr>Office Theme</vt:lpstr>
      <vt:lpstr>Beta-Testing Without Beta-Testers For Monopoly</vt:lpstr>
      <vt:lpstr>Motivation</vt:lpstr>
      <vt:lpstr>The strategy pool: 10 named archetypes</vt:lpstr>
      <vt:lpstr>The objective: one composite, five design qualities</vt:lpstr>
      <vt:lpstr>Method</vt:lpstr>
      <vt:lpstr>Generated boards (2p): default vs. GA winner</vt:lpstr>
      <vt:lpstr>Does it hold up with a human at the controls?</vt:lpstr>
      <vt:lpstr>Game-design insights</vt:lpstr>
      <vt:lpstr>Game-design insights</vt:lpstr>
      <vt:lpstr>Game-design insights</vt:lpstr>
      <vt:lpstr>What the GA fixed: which archetypes win more (and less)?</vt:lpstr>
      <vt:lpstr>Results: generalization to 2–8 players</vt:lpstr>
      <vt:lpstr>Conclusion</vt:lpstr>
      <vt:lpstr>Game-design 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Beta-Testing Without Beta-Testers - Diverse Agent Surrogates for Game-Design Optimisation</dc:title>
  <dc:creator>Selim Emir Can</dc:creator>
  <cp:lastModifiedBy>Selim Can</cp:lastModifiedBy>
  <cp:revision>24</cp:revision>
  <dcterms:created xsi:type="dcterms:W3CDTF">2026-06-02T07:25:17Z</dcterms:created>
  <dcterms:modified xsi:type="dcterms:W3CDTF">2026-06-02T19:15:36Z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2026-06-02T00:00:00Z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2026-06-02T00:00:00Z</vt:filetime>
  </property>
  <property fmtid="{D5CDD505-2E9C-101B-9397-08002B2CF9AE}" pid="6" name="PTEX.Fullbanner">
    <vt:lpwstr>This is MiKTeX-pdfTeX 4.23.0 (1.40.28)</vt:lpwstr>
  </property>
  <property fmtid="{D5CDD505-2E9C-101B-9397-08002B2CF9AE}" pid="7" name="Producer">
    <vt:lpwstr>MiKTeX pdfTeX-1.40.28</vt:lpwstr>
  </property>
</Properties>
</file>